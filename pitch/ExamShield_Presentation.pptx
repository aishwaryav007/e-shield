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1828800"/>
            <a:ext cx="21332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362895" cy="1097280"/>
          </a:xfrm>
          <a:prstGeom prst="rect">
            <a:avLst/>
          </a:prstGeom>
          <a:noFill/>
        </p:spPr>
        <p:txBody>
          <a:bodyPr wrap="square">
            <a:spAutoFit/>
          </a:bodyPr>
          <a:lstStyle/>
          <a:p>
            <a:pPr algn="ctr"/>
            <a:r>
              <a:rPr sz="5400" b="1">
                <a:solidFill>
                  <a:srgbClr val="FFFFFF"/>
                </a:solidFill>
                <a:latin typeface="Segoe UI"/>
              </a:rPr>
              <a:t>EXAMSHIELD</a:t>
            </a:r>
          </a:p>
        </p:txBody>
      </p:sp>
      <p:sp>
        <p:nvSpPr>
          <p:cNvPr id="6" name="TextBox 5"/>
          <p:cNvSpPr txBox="1"/>
          <p:nvPr/>
        </p:nvSpPr>
        <p:spPr>
          <a:xfrm>
            <a:off x="914400" y="3108960"/>
            <a:ext cx="10362895" cy="731520"/>
          </a:xfrm>
          <a:prstGeom prst="rect">
            <a:avLst/>
          </a:prstGeom>
          <a:noFill/>
        </p:spPr>
        <p:txBody>
          <a:bodyPr wrap="square">
            <a:spAutoFit/>
          </a:bodyPr>
          <a:lstStyle/>
          <a:p>
            <a:pPr algn="ctr"/>
            <a:r>
              <a:rPr sz="2200" b="0">
                <a:solidFill>
                  <a:srgbClr val="94A3B8"/>
                </a:solidFill>
                <a:latin typeface="Segoe UI"/>
              </a:rPr>
              <a:t>AI-Powered Handwritten Answer Sheet Verification Engine</a:t>
            </a:r>
          </a:p>
        </p:txBody>
      </p:sp>
      <p:sp>
        <p:nvSpPr>
          <p:cNvPr id="7" name="TextBox 6"/>
          <p:cNvSpPr txBox="1"/>
          <p:nvPr/>
        </p:nvSpPr>
        <p:spPr>
          <a:xfrm>
            <a:off x="1828800" y="3840480"/>
            <a:ext cx="8534095" cy="548640"/>
          </a:xfrm>
          <a:prstGeom prst="rect">
            <a:avLst/>
          </a:prstGeom>
          <a:noFill/>
        </p:spPr>
        <p:txBody>
          <a:bodyPr wrap="square">
            <a:spAutoFit/>
          </a:bodyPr>
          <a:lstStyle/>
          <a:p>
            <a:pPr algn="ctr"/>
            <a:r>
              <a:rPr sz="1700" b="0">
                <a:solidFill>
                  <a:srgbClr val="3B82F6"/>
                </a:solidFill>
                <a:latin typeface="Segoe UI"/>
              </a:rPr>
              <a:t>“Rank &amp; Flag Evidence.   Never Accuse.   The Human Decides.”</a:t>
            </a:r>
          </a:p>
        </p:txBody>
      </p:sp>
      <p:sp>
        <p:nvSpPr>
          <p:cNvPr id="8" name="Rectangle 7"/>
          <p:cNvSpPr/>
          <p:nvPr/>
        </p:nvSpPr>
        <p:spPr>
          <a:xfrm>
            <a:off x="5029200" y="4526280"/>
            <a:ext cx="21332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54880"/>
            <a:ext cx="10362895" cy="457200"/>
          </a:xfrm>
          <a:prstGeom prst="rect">
            <a:avLst/>
          </a:prstGeom>
          <a:noFill/>
        </p:spPr>
        <p:txBody>
          <a:bodyPr wrap="square">
            <a:spAutoFit/>
          </a:bodyPr>
          <a:lstStyle/>
          <a:p>
            <a:pPr algn="ctr"/>
            <a:r>
              <a:rPr sz="2000" b="0">
                <a:solidFill>
                  <a:srgbClr val="E2E8F0"/>
                </a:solidFill>
                <a:latin typeface="Segoe UI"/>
              </a:rPr>
              <a:t>Gaurav   ·   Aishwarya   ·   Yashwanthi</a:t>
            </a:r>
          </a:p>
        </p:txBody>
      </p:sp>
      <p:sp>
        <p:nvSpPr>
          <p:cNvPr id="10" name="TextBox 9"/>
          <p:cNvSpPr txBox="1"/>
          <p:nvPr/>
        </p:nvSpPr>
        <p:spPr>
          <a:xfrm>
            <a:off x="914400" y="5760720"/>
            <a:ext cx="10362895" cy="457200"/>
          </a:xfrm>
          <a:prstGeom prst="rect">
            <a:avLst/>
          </a:prstGeom>
          <a:noFill/>
        </p:spPr>
        <p:txBody>
          <a:bodyPr wrap="square">
            <a:spAutoFit/>
          </a:bodyPr>
          <a:lstStyle/>
          <a:p>
            <a:pPr algn="ctr"/>
            <a:r>
              <a:rPr sz="1300" b="0">
                <a:solidFill>
                  <a:srgbClr val="94A3B8"/>
                </a:solidFill>
                <a:latin typeface="Segoe UI"/>
              </a:rPr>
              <a:t>HACK-THE-MATRIX 2026   ·   TECHNIDHI — SNIST   ·   Track 03: Computer 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EF4444"/>
                </a:solidFill>
                <a:latin typeface="Segoe UI"/>
              </a:rPr>
              <a:t>THE PROBLEM</a:t>
            </a:r>
          </a:p>
          <a:p>
            <a:pPr algn="l">
              <a:spcBef>
                <a:spcPts val="400"/>
              </a:spcBef>
              <a:spcAft>
                <a:spcPts val="0"/>
              </a:spcAft>
            </a:pPr>
            <a:r>
              <a:rPr sz="3200" b="1">
                <a:solidFill>
                  <a:srgbClr val="FFFFFF"/>
                </a:solidFill>
                <a:latin typeface="Segoe UI"/>
              </a:rPr>
              <a:t>Manual Evaluation Fails in Three Expensive Ways</a:t>
            </a:r>
          </a:p>
        </p:txBody>
      </p:sp>
      <p:sp>
        <p:nvSpPr>
          <p:cNvPr id="4" name="Rounded Rectangle 3"/>
          <p:cNvSpPr/>
          <p:nvPr/>
        </p:nvSpPr>
        <p:spPr>
          <a:xfrm>
            <a:off x="640080" y="1645920"/>
            <a:ext cx="3383280" cy="28346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26080" cy="2468880"/>
          </a:xfrm>
          <a:prstGeom prst="rect">
            <a:avLst/>
          </a:prstGeom>
          <a:noFill/>
        </p:spPr>
        <p:txBody>
          <a:bodyPr wrap="square">
            <a:spAutoFit/>
          </a:bodyPr>
          <a:lstStyle/>
          <a:p>
            <a:pPr algn="l"/>
            <a:r>
              <a:rPr sz="3000" b="0">
                <a:solidFill>
                  <a:srgbClr val="FFFFFF"/>
                </a:solidFill>
                <a:latin typeface="Segoe UI"/>
              </a:rPr>
              <a:t>🔍</a:t>
            </a:r>
          </a:p>
          <a:p>
            <a:pPr algn="l">
              <a:spcBef>
                <a:spcPts val="600"/>
              </a:spcBef>
              <a:spcAft>
                <a:spcPts val="0"/>
              </a:spcAft>
            </a:pPr>
            <a:r>
              <a:rPr sz="2000" b="1">
                <a:solidFill>
                  <a:srgbClr val="FFFFFF"/>
                </a:solidFill>
                <a:latin typeface="Segoe UI"/>
              </a:rPr>
              <a:t>Undetectable Copying</a:t>
            </a:r>
          </a:p>
          <a:p>
            <a:pPr algn="l">
              <a:spcBef>
                <a:spcPts val="1000"/>
              </a:spcBef>
              <a:spcAft>
                <a:spcPts val="0"/>
              </a:spcAft>
            </a:pPr>
            <a:r>
              <a:rPr sz="1300" b="0">
                <a:solidFill>
                  <a:srgbClr val="E2E8F0"/>
                </a:solidFill>
                <a:latin typeface="Segoe UI"/>
              </a:rPr>
              <a:t>300 scripts = 44,850 pairwise comparisons.</a:t>
            </a:r>
          </a:p>
          <a:p>
            <a:pPr algn="l">
              <a:spcBef>
                <a:spcPts val="400"/>
              </a:spcBef>
              <a:spcAft>
                <a:spcPts val="0"/>
              </a:spcAft>
            </a:pPr>
            <a:r>
              <a:rPr sz="1300" b="0">
                <a:solidFill>
                  <a:srgbClr val="E2E8F0"/>
                </a:solidFill>
                <a:latin typeface="Segoe UI"/>
              </a:rPr>
              <a:t>No human performs this cross-comparison. Collusion between students is invisible to sequential grading.</a:t>
            </a:r>
          </a:p>
          <a:p>
            <a:pPr algn="l">
              <a:spcBef>
                <a:spcPts val="1000"/>
              </a:spcBef>
              <a:spcAft>
                <a:spcPts val="0"/>
              </a:spcAft>
            </a:pPr>
            <a:r>
              <a:rPr sz="1300" b="0">
                <a:solidFill>
                  <a:srgbClr val="94A3B8"/>
                </a:solidFill>
                <a:latin typeface="Segoe UI"/>
              </a:rPr>
              <a:t>Current detection coverage:</a:t>
            </a:r>
          </a:p>
          <a:p>
            <a:pPr algn="l">
              <a:spcBef>
                <a:spcPts val="400"/>
              </a:spcBef>
              <a:spcAft>
                <a:spcPts val="0"/>
              </a:spcAft>
            </a:pPr>
            <a:r>
              <a:rPr sz="2800" b="1">
                <a:solidFill>
                  <a:srgbClr val="EF4444"/>
                </a:solidFill>
                <a:latin typeface="Segoe UI"/>
              </a:rPr>
              <a:t>0%</a:t>
            </a:r>
          </a:p>
        </p:txBody>
      </p:sp>
      <p:sp>
        <p:nvSpPr>
          <p:cNvPr id="6" name="Rounded Rectangle 5"/>
          <p:cNvSpPr/>
          <p:nvPr/>
        </p:nvSpPr>
        <p:spPr>
          <a:xfrm>
            <a:off x="4389120" y="1645920"/>
            <a:ext cx="3383280" cy="28346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28800"/>
            <a:ext cx="2926080" cy="2468880"/>
          </a:xfrm>
          <a:prstGeom prst="rect">
            <a:avLst/>
          </a:prstGeom>
          <a:noFill/>
        </p:spPr>
        <p:txBody>
          <a:bodyPr wrap="square">
            <a:spAutoFit/>
          </a:bodyPr>
          <a:lstStyle/>
          <a:p>
            <a:pPr algn="l"/>
            <a:r>
              <a:rPr sz="3000" b="0">
                <a:solidFill>
                  <a:srgbClr val="FFFFFF"/>
                </a:solidFill>
                <a:latin typeface="Segoe UI"/>
              </a:rPr>
              <a:t>➕</a:t>
            </a:r>
          </a:p>
          <a:p>
            <a:pPr algn="l">
              <a:spcBef>
                <a:spcPts val="600"/>
              </a:spcBef>
              <a:spcAft>
                <a:spcPts val="0"/>
              </a:spcAft>
            </a:pPr>
            <a:r>
              <a:rPr sz="2000" b="1">
                <a:solidFill>
                  <a:srgbClr val="FFFFFF"/>
                </a:solidFill>
                <a:latin typeface="Segoe UI"/>
              </a:rPr>
              <a:t>Totaling &amp; Transcription Errors</a:t>
            </a:r>
          </a:p>
          <a:p>
            <a:pPr algn="l">
              <a:spcBef>
                <a:spcPts val="1000"/>
              </a:spcBef>
              <a:spcAft>
                <a:spcPts val="0"/>
              </a:spcAft>
            </a:pPr>
            <a:r>
              <a:rPr sz="1300" b="0">
                <a:solidFill>
                  <a:srgbClr val="E2E8F0"/>
                </a:solidFill>
                <a:latin typeface="Segoe UI"/>
              </a:rPr>
              <a:t>Tired evaluators add marks wrong, skip attempted answers, or transcribe totals incorrectly.</a:t>
            </a:r>
          </a:p>
          <a:p>
            <a:pPr algn="l">
              <a:spcBef>
                <a:spcPts val="400"/>
              </a:spcBef>
              <a:spcAft>
                <a:spcPts val="0"/>
              </a:spcAft>
            </a:pPr>
            <a:r>
              <a:rPr sz="1300" b="0">
                <a:solidFill>
                  <a:srgbClr val="E2E8F0"/>
                </a:solidFill>
                <a:latin typeface="Segoe UI"/>
              </a:rPr>
              <a:t>Students pay revaluation fees to fix arithmetic mistakes.</a:t>
            </a:r>
          </a:p>
          <a:p>
            <a:pPr algn="l">
              <a:spcBef>
                <a:spcPts val="1000"/>
              </a:spcBef>
              <a:spcAft>
                <a:spcPts val="0"/>
              </a:spcAft>
            </a:pPr>
            <a:r>
              <a:rPr sz="1400" b="1">
                <a:solidFill>
                  <a:srgbClr val="F59E0B"/>
                </a:solidFill>
                <a:latin typeface="Segoe UI"/>
              </a:rPr>
              <a:t>Discovered only AFTER results publish</a:t>
            </a:r>
          </a:p>
        </p:txBody>
      </p:sp>
      <p:sp>
        <p:nvSpPr>
          <p:cNvPr id="8" name="Rounded Rectangle 7"/>
          <p:cNvSpPr/>
          <p:nvPr/>
        </p:nvSpPr>
        <p:spPr>
          <a:xfrm>
            <a:off x="8138160" y="1645920"/>
            <a:ext cx="3383280" cy="283464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828800"/>
            <a:ext cx="2926080" cy="2468880"/>
          </a:xfrm>
          <a:prstGeom prst="rect">
            <a:avLst/>
          </a:prstGeom>
          <a:noFill/>
        </p:spPr>
        <p:txBody>
          <a:bodyPr wrap="square">
            <a:spAutoFit/>
          </a:bodyPr>
          <a:lstStyle/>
          <a:p>
            <a:pPr algn="l"/>
            <a:r>
              <a:rPr sz="3000" b="0">
                <a:solidFill>
                  <a:srgbClr val="FFFFFF"/>
                </a:solidFill>
                <a:latin typeface="Segoe UI"/>
              </a:rPr>
              <a:t>🆔</a:t>
            </a:r>
          </a:p>
          <a:p>
            <a:pPr algn="l">
              <a:spcBef>
                <a:spcPts val="600"/>
              </a:spcBef>
              <a:spcAft>
                <a:spcPts val="0"/>
              </a:spcAft>
            </a:pPr>
            <a:r>
              <a:rPr sz="2000" b="1">
                <a:solidFill>
                  <a:srgbClr val="FFFFFF"/>
                </a:solidFill>
                <a:latin typeface="Segoe UI"/>
              </a:rPr>
              <a:t>Administrative Mix-ups</a:t>
            </a:r>
          </a:p>
          <a:p>
            <a:pPr algn="l">
              <a:spcBef>
                <a:spcPts val="1000"/>
              </a:spcBef>
              <a:spcAft>
                <a:spcPts val="0"/>
              </a:spcAft>
            </a:pPr>
            <a:r>
              <a:rPr sz="1300" b="0">
                <a:solidFill>
                  <a:srgbClr val="E2E8F0"/>
                </a:solidFill>
                <a:latin typeface="Segoe UI"/>
              </a:rPr>
              <a:t>Misread roll numbers produce "I got someone else's marks" scandals.</a:t>
            </a:r>
          </a:p>
          <a:p>
            <a:pPr algn="l">
              <a:spcBef>
                <a:spcPts val="400"/>
              </a:spcBef>
              <a:spcAft>
                <a:spcPts val="0"/>
              </a:spcAft>
            </a:pPr>
            <a:r>
              <a:rPr sz="1300" b="0">
                <a:solidFill>
                  <a:srgbClr val="E2E8F0"/>
                </a:solidFill>
                <a:latin typeface="Segoe UI"/>
              </a:rPr>
              <a:t>Lost supplements create unresolvable disputes.</a:t>
            </a:r>
          </a:p>
          <a:p>
            <a:pPr algn="l">
              <a:spcBef>
                <a:spcPts val="400"/>
              </a:spcBef>
              <a:spcAft>
                <a:spcPts val="0"/>
              </a:spcAft>
            </a:pPr>
            <a:r>
              <a:rPr sz="1300" b="0">
                <a:solidFill>
                  <a:srgbClr val="E2E8F0"/>
                </a:solidFill>
                <a:latin typeface="Segoe UI"/>
              </a:rPr>
              <a:t>Borderline totals (39/40) flood the system with paid revaluation requests.</a:t>
            </a:r>
          </a:p>
        </p:txBody>
      </p:sp>
      <p:sp>
        <p:nvSpPr>
          <p:cNvPr id="10" name="Rounded Rectangle 9"/>
          <p:cNvSpPr/>
          <p:nvPr/>
        </p:nvSpPr>
        <p:spPr>
          <a:xfrm>
            <a:off x="640080" y="4846320"/>
            <a:ext cx="10911535" cy="1371600"/>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83480"/>
            <a:ext cx="10362895" cy="1097280"/>
          </a:xfrm>
          <a:prstGeom prst="rect">
            <a:avLst/>
          </a:prstGeom>
          <a:noFill/>
        </p:spPr>
        <p:txBody>
          <a:bodyPr wrap="square">
            <a:spAutoFit/>
          </a:bodyPr>
          <a:lstStyle/>
          <a:p>
            <a:pPr algn="l"/>
            <a:r>
              <a:rPr sz="1400" b="1">
                <a:solidFill>
                  <a:srgbClr val="94A3B8"/>
                </a:solidFill>
                <a:latin typeface="Segoe UI"/>
              </a:rPr>
              <a:t>Current "Solution"</a:t>
            </a:r>
          </a:p>
          <a:p>
            <a:pPr algn="l">
              <a:spcBef>
                <a:spcPts val="600"/>
              </a:spcBef>
              <a:spcAft>
                <a:spcPts val="0"/>
              </a:spcAft>
            </a:pPr>
            <a:r>
              <a:rPr sz="1600" b="0">
                <a:solidFill>
                  <a:srgbClr val="E2E8F0"/>
                </a:solidFill>
                <a:latin typeface="Segoe UI"/>
              </a:rPr>
              <a:t>More manual labor: moderation committees, second evaluations, paid revaluation — all AFTER the damage is done.</a:t>
            </a:r>
          </a:p>
          <a:p>
            <a:pPr algn="l">
              <a:spcBef>
                <a:spcPts val="600"/>
              </a:spcBef>
              <a:spcAft>
                <a:spcPts val="0"/>
              </a:spcAft>
            </a:pPr>
            <a:r>
              <a:rPr sz="1600" b="1">
                <a:solidFill>
                  <a:srgbClr val="EF4444"/>
                </a:solidFill>
                <a:latin typeface="Segoe UI"/>
              </a:rPr>
              <a:t>A human cannot compare 44,850 pairs. Period.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10B981"/>
                </a:solidFill>
                <a:latin typeface="Segoe UI"/>
              </a:rPr>
              <a:t>OUR SOLUTION</a:t>
            </a:r>
          </a:p>
          <a:p>
            <a:pPr algn="l">
              <a:spcBef>
                <a:spcPts val="400"/>
              </a:spcBef>
              <a:spcAft>
                <a:spcPts val="0"/>
              </a:spcAft>
            </a:pPr>
            <a:r>
              <a:rPr sz="3200" b="1">
                <a:solidFill>
                  <a:srgbClr val="FFFFFF"/>
                </a:solidFill>
                <a:latin typeface="Segoe UI"/>
              </a:rPr>
              <a:t>ExamShield — Integrity-Check in Minutes, Not Weeks</a:t>
            </a:r>
          </a:p>
        </p:txBody>
      </p:sp>
      <p:sp>
        <p:nvSpPr>
          <p:cNvPr id="4" name="TextBox 3"/>
          <p:cNvSpPr txBox="1"/>
          <p:nvPr/>
        </p:nvSpPr>
        <p:spPr>
          <a:xfrm>
            <a:off x="640080" y="1645920"/>
            <a:ext cx="10911535" cy="914400"/>
          </a:xfrm>
          <a:prstGeom prst="rect">
            <a:avLst/>
          </a:prstGeom>
          <a:noFill/>
        </p:spPr>
        <p:txBody>
          <a:bodyPr wrap="square">
            <a:spAutoFit/>
          </a:bodyPr>
          <a:lstStyle/>
          <a:p>
            <a:pPr algn="l"/>
            <a:r>
              <a:rPr sz="1800" b="0">
                <a:solidFill>
                  <a:srgbClr val="E2E8F0"/>
                </a:solidFill>
                <a:latin typeface="Segoe UI"/>
              </a:rPr>
              <a:t>Upload a batch of scanned answer scripts → ExamShield finds the copying no human can catch, verifies every total, and highlights the evidence a grader needs — in minutes, not weeks.</a:t>
            </a:r>
          </a:p>
        </p:txBody>
      </p:sp>
      <p:sp>
        <p:nvSpPr>
          <p:cNvPr id="5" name="Rounded Rectangle 4"/>
          <p:cNvSpPr/>
          <p:nvPr/>
        </p:nvSpPr>
        <p:spPr>
          <a:xfrm>
            <a:off x="640080" y="2697480"/>
            <a:ext cx="10911535" cy="146304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10362895" cy="1280160"/>
          </a:xfrm>
          <a:prstGeom prst="rect">
            <a:avLst/>
          </a:prstGeom>
          <a:noFill/>
        </p:spPr>
        <p:txBody>
          <a:bodyPr wrap="square">
            <a:spAutoFit/>
          </a:bodyPr>
          <a:lstStyle/>
          <a:p>
            <a:pPr algn="l"/>
            <a:r>
              <a:rPr sz="1200" b="1">
                <a:solidFill>
                  <a:srgbClr val="3B82F6"/>
                </a:solidFill>
                <a:latin typeface="Segoe UI"/>
              </a:rPr>
              <a:t>CORE DESIGN PRINCIPLE</a:t>
            </a:r>
          </a:p>
          <a:p>
            <a:pPr algn="l">
              <a:spcBef>
                <a:spcPts val="800"/>
              </a:spcBef>
              <a:spcAft>
                <a:spcPts val="0"/>
              </a:spcAft>
            </a:pPr>
            <a:r>
              <a:rPr sz="1500" b="0">
                <a:solidFill>
                  <a:srgbClr val="E2E8F0"/>
                </a:solidFill>
                <a:latin typeface="Segoe UI"/>
              </a:rPr>
              <a:t>“The system never accuses and never finalizes. Every output is a ranked flag with image-level evidence for human review. Where OCR must be precise, we use digits only. Where OCR is noisy, we only need relative similarity. Where precision is impossible, we highlight evidence instead of deciding.”</a:t>
            </a:r>
          </a:p>
        </p:txBody>
      </p:sp>
      <p:sp>
        <p:nvSpPr>
          <p:cNvPr id="7" name="Rounded Rectangle 6"/>
          <p:cNvSpPr/>
          <p:nvPr/>
        </p:nvSpPr>
        <p:spPr>
          <a:xfrm>
            <a:off x="640080" y="4434840"/>
            <a:ext cx="2560320" cy="18288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663440"/>
            <a:ext cx="2194560" cy="1463040"/>
          </a:xfrm>
          <a:prstGeom prst="rect">
            <a:avLst/>
          </a:prstGeom>
          <a:noFill/>
        </p:spPr>
        <p:txBody>
          <a:bodyPr wrap="square">
            <a:spAutoFit/>
          </a:bodyPr>
          <a:lstStyle/>
          <a:p>
            <a:pPr algn="ctr"/>
            <a:r>
              <a:rPr sz="2000" b="1">
                <a:solidFill>
                  <a:srgbClr val="FFFFFF"/>
                </a:solidFill>
                <a:latin typeface="Segoe UI"/>
              </a:rPr>
              <a:t>6 Verification
Engines</a:t>
            </a:r>
          </a:p>
          <a:p>
            <a:pPr algn="ctr">
              <a:spcBef>
                <a:spcPts val="1000"/>
              </a:spcBef>
              <a:spcAft>
                <a:spcPts val="0"/>
              </a:spcAft>
            </a:pPr>
            <a:r>
              <a:rPr sz="1300" b="0">
                <a:solidFill>
                  <a:srgbClr val="94A3B8"/>
                </a:solidFill>
                <a:latin typeface="Segoe UI"/>
              </a:rPr>
              <a:t>One unified pipeline</a:t>
            </a:r>
          </a:p>
        </p:txBody>
      </p:sp>
      <p:sp>
        <p:nvSpPr>
          <p:cNvPr id="9" name="Rounded Rectangle 8"/>
          <p:cNvSpPr/>
          <p:nvPr/>
        </p:nvSpPr>
        <p:spPr>
          <a:xfrm>
            <a:off x="3364992" y="4434840"/>
            <a:ext cx="2560320" cy="18288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4663440"/>
            <a:ext cx="2194560" cy="1463040"/>
          </a:xfrm>
          <a:prstGeom prst="rect">
            <a:avLst/>
          </a:prstGeom>
          <a:noFill/>
        </p:spPr>
        <p:txBody>
          <a:bodyPr wrap="square">
            <a:spAutoFit/>
          </a:bodyPr>
          <a:lstStyle/>
          <a:p>
            <a:pPr algn="ctr"/>
            <a:r>
              <a:rPr sz="2000" b="1">
                <a:solidFill>
                  <a:srgbClr val="FFFFFF"/>
                </a:solidFill>
                <a:latin typeface="Segoe UI"/>
              </a:rPr>
              <a:t>100% Offline</a:t>
            </a:r>
          </a:p>
          <a:p>
            <a:pPr algn="ctr">
              <a:spcBef>
                <a:spcPts val="1000"/>
              </a:spcBef>
              <a:spcAft>
                <a:spcPts val="0"/>
              </a:spcAft>
            </a:pPr>
            <a:r>
              <a:rPr sz="1300" b="0">
                <a:solidFill>
                  <a:srgbClr val="94A3B8"/>
                </a:solidFill>
                <a:latin typeface="Segoe UI"/>
              </a:rPr>
              <a:t>Runs on standard laptops</a:t>
            </a:r>
          </a:p>
        </p:txBody>
      </p:sp>
      <p:sp>
        <p:nvSpPr>
          <p:cNvPr id="11" name="Rounded Rectangle 10"/>
          <p:cNvSpPr/>
          <p:nvPr/>
        </p:nvSpPr>
        <p:spPr>
          <a:xfrm>
            <a:off x="6089904" y="4434840"/>
            <a:ext cx="2560320" cy="182880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4" y="4663440"/>
            <a:ext cx="2194560" cy="1463040"/>
          </a:xfrm>
          <a:prstGeom prst="rect">
            <a:avLst/>
          </a:prstGeom>
          <a:noFill/>
        </p:spPr>
        <p:txBody>
          <a:bodyPr wrap="square">
            <a:spAutoFit/>
          </a:bodyPr>
          <a:lstStyle/>
          <a:p>
            <a:pPr algn="ctr"/>
            <a:r>
              <a:rPr sz="2000" b="1">
                <a:solidFill>
                  <a:srgbClr val="FFFFFF"/>
                </a:solidFill>
                <a:latin typeface="Segoe UI"/>
              </a:rPr>
              <a:t>No GPT / No LLM</a:t>
            </a:r>
          </a:p>
          <a:p>
            <a:pPr algn="ctr">
              <a:spcBef>
                <a:spcPts val="1000"/>
              </a:spcBef>
              <a:spcAft>
                <a:spcPts val="0"/>
              </a:spcAft>
            </a:pPr>
            <a:r>
              <a:rPr sz="1300" b="0">
                <a:solidFill>
                  <a:srgbClr val="94A3B8"/>
                </a:solidFill>
                <a:latin typeface="Segoe UI"/>
              </a:rPr>
              <a:t>Fully Track 03 compliant</a:t>
            </a:r>
          </a:p>
        </p:txBody>
      </p:sp>
      <p:sp>
        <p:nvSpPr>
          <p:cNvPr id="13" name="Rounded Rectangle 12"/>
          <p:cNvSpPr/>
          <p:nvPr/>
        </p:nvSpPr>
        <p:spPr>
          <a:xfrm>
            <a:off x="8814816" y="4434840"/>
            <a:ext cx="2560320" cy="18288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4663440"/>
            <a:ext cx="2194560" cy="1463040"/>
          </a:xfrm>
          <a:prstGeom prst="rect">
            <a:avLst/>
          </a:prstGeom>
          <a:noFill/>
        </p:spPr>
        <p:txBody>
          <a:bodyPr wrap="square">
            <a:spAutoFit/>
          </a:bodyPr>
          <a:lstStyle/>
          <a:p>
            <a:pPr algn="ctr"/>
            <a:r>
              <a:rPr sz="2000" b="1">
                <a:solidFill>
                  <a:srgbClr val="FFFFFF"/>
                </a:solidFill>
                <a:latin typeface="Segoe UI"/>
              </a:rPr>
              <a:t>Human-in-the-Loop</a:t>
            </a:r>
          </a:p>
          <a:p>
            <a:pPr algn="ctr">
              <a:spcBef>
                <a:spcPts val="1000"/>
              </a:spcBef>
              <a:spcAft>
                <a:spcPts val="0"/>
              </a:spcAft>
            </a:pPr>
            <a:r>
              <a:rPr sz="1300" b="0">
                <a:solidFill>
                  <a:srgbClr val="94A3B8"/>
                </a:solidFill>
                <a:latin typeface="Segoe UI"/>
              </a:rPr>
              <a:t>Flags evidence,
never decides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06B6D4"/>
                </a:solidFill>
                <a:latin typeface="Segoe UI"/>
              </a:rPr>
              <a:t>FEATURE SUITE</a:t>
            </a:r>
          </a:p>
          <a:p>
            <a:pPr algn="l">
              <a:spcBef>
                <a:spcPts val="400"/>
              </a:spcBef>
              <a:spcAft>
                <a:spcPts val="0"/>
              </a:spcAft>
            </a:pPr>
            <a:r>
              <a:rPr sz="3200" b="1">
                <a:solidFill>
                  <a:srgbClr val="FFFFFF"/>
                </a:solidFill>
                <a:latin typeface="Segoe UI"/>
              </a:rPr>
              <a:t>Six Engines, One Pipeline</a:t>
            </a:r>
          </a:p>
        </p:txBody>
      </p:sp>
      <p:sp>
        <p:nvSpPr>
          <p:cNvPr id="4" name="Rounded Rectangle 3"/>
          <p:cNvSpPr/>
          <p:nvPr/>
        </p:nvSpPr>
        <p:spPr>
          <a:xfrm>
            <a:off x="640080" y="1554480"/>
            <a:ext cx="3447288" cy="19202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2990088" cy="1645920"/>
          </a:xfrm>
          <a:prstGeom prst="rect">
            <a:avLst/>
          </a:prstGeom>
          <a:noFill/>
        </p:spPr>
        <p:txBody>
          <a:bodyPr wrap="square">
            <a:spAutoFit/>
          </a:bodyPr>
          <a:lstStyle/>
          <a:p>
            <a:pPr algn="l"/>
            <a:r>
              <a:rPr sz="2000" b="1">
                <a:solidFill>
                  <a:srgbClr val="FFFFFF"/>
                </a:solidFill>
                <a:latin typeface="Segoe UI"/>
              </a:rPr>
              <a:t>MarkSafe</a:t>
            </a:r>
          </a:p>
          <a:p>
            <a:pPr algn="l">
              <a:spcBef>
                <a:spcPts val="200"/>
              </a:spcBef>
              <a:spcAft>
                <a:spcPts val="0"/>
              </a:spcAft>
            </a:pPr>
            <a:r>
              <a:rPr sz="1100" b="1">
                <a:solidFill>
                  <a:srgbClr val="10B981"/>
                </a:solidFill>
                <a:latin typeface="Segoe UI"/>
              </a:rPr>
              <a:t>Trust Layer</a:t>
            </a:r>
          </a:p>
          <a:p>
            <a:pPr algn="l">
              <a:spcBef>
                <a:spcPts val="800"/>
              </a:spcBef>
              <a:spcAft>
                <a:spcPts val="0"/>
              </a:spcAft>
            </a:pPr>
            <a:r>
              <a:rPr sz="1200" b="0">
                <a:solidFill>
                  <a:srgbClr val="E2E8F0"/>
                </a:solidFill>
                <a:latin typeface="Segoe UI"/>
              </a:rPr>
              <a:t>Verifies every mark &amp; total.
Ambiguity flagged, never guessed.</a:t>
            </a:r>
          </a:p>
          <a:p>
            <a:pPr algn="l">
              <a:spcBef>
                <a:spcPts val="800"/>
              </a:spcBef>
              <a:spcAft>
                <a:spcPts val="0"/>
              </a:spcAft>
            </a:pPr>
            <a:r>
              <a:rPr sz="1000" b="0">
                <a:solidFill>
                  <a:srgbClr val="94A3B8"/>
                </a:solidFill>
                <a:latin typeface="Segoe UI"/>
              </a:rPr>
              <a:t>Digit OCR + Ink Detection</a:t>
            </a:r>
          </a:p>
        </p:txBody>
      </p:sp>
      <p:sp>
        <p:nvSpPr>
          <p:cNvPr id="6" name="Rounded Rectangle 5"/>
          <p:cNvSpPr/>
          <p:nvPr/>
        </p:nvSpPr>
        <p:spPr>
          <a:xfrm>
            <a:off x="4361688" y="1554480"/>
            <a:ext cx="3447288" cy="192024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1691640"/>
            <a:ext cx="2990088" cy="1645920"/>
          </a:xfrm>
          <a:prstGeom prst="rect">
            <a:avLst/>
          </a:prstGeom>
          <a:noFill/>
        </p:spPr>
        <p:txBody>
          <a:bodyPr wrap="square">
            <a:spAutoFit/>
          </a:bodyPr>
          <a:lstStyle/>
          <a:p>
            <a:pPr algn="l"/>
            <a:r>
              <a:rPr sz="2000" b="1">
                <a:solidFill>
                  <a:srgbClr val="FFFFFF"/>
                </a:solidFill>
                <a:latin typeface="Segoe UI"/>
              </a:rPr>
              <a:t>CopyCatch</a:t>
            </a:r>
          </a:p>
          <a:p>
            <a:pPr algn="l">
              <a:spcBef>
                <a:spcPts val="200"/>
              </a:spcBef>
              <a:spcAft>
                <a:spcPts val="0"/>
              </a:spcAft>
            </a:pPr>
            <a:r>
              <a:rPr sz="1100" b="1">
                <a:solidFill>
                  <a:srgbClr val="3B82F6"/>
                </a:solidFill>
                <a:latin typeface="Segoe UI"/>
              </a:rPr>
              <a:t>Headline Feature ⭐</a:t>
            </a:r>
          </a:p>
          <a:p>
            <a:pPr algn="l">
              <a:spcBef>
                <a:spcPts val="800"/>
              </a:spcBef>
              <a:spcAft>
                <a:spcPts val="0"/>
              </a:spcAft>
            </a:pPr>
            <a:r>
              <a:rPr sz="1200" b="0">
                <a:solidFill>
                  <a:srgbClr val="E2E8F0"/>
                </a:solidFill>
                <a:latin typeface="Segoe UI"/>
              </a:rPr>
              <a:t>Detects collusion networks
with side-by-side evidence.</a:t>
            </a:r>
          </a:p>
          <a:p>
            <a:pPr algn="l">
              <a:spcBef>
                <a:spcPts val="800"/>
              </a:spcBef>
              <a:spcAft>
                <a:spcPts val="0"/>
              </a:spcAft>
            </a:pPr>
            <a:r>
              <a:rPr sz="1000" b="0">
                <a:solidFill>
                  <a:srgbClr val="94A3B8"/>
                </a:solidFill>
                <a:latin typeface="Segoe UI"/>
              </a:rPr>
              <a:t>Prose OCR + MiniLM Embeddings</a:t>
            </a:r>
          </a:p>
        </p:txBody>
      </p:sp>
      <p:sp>
        <p:nvSpPr>
          <p:cNvPr id="8" name="Rounded Rectangle 7"/>
          <p:cNvSpPr/>
          <p:nvPr/>
        </p:nvSpPr>
        <p:spPr>
          <a:xfrm>
            <a:off x="8083296" y="1554480"/>
            <a:ext cx="3447288" cy="192024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1896" y="1691640"/>
            <a:ext cx="2990088" cy="1645920"/>
          </a:xfrm>
          <a:prstGeom prst="rect">
            <a:avLst/>
          </a:prstGeom>
          <a:noFill/>
        </p:spPr>
        <p:txBody>
          <a:bodyPr wrap="square">
            <a:spAutoFit/>
          </a:bodyPr>
          <a:lstStyle/>
          <a:p>
            <a:pPr algn="l"/>
            <a:r>
              <a:rPr sz="2000" b="1">
                <a:solidFill>
                  <a:srgbClr val="FFFFFF"/>
                </a:solidFill>
                <a:latin typeface="Segoe UI"/>
              </a:rPr>
              <a:t>ScriptID</a:t>
            </a:r>
          </a:p>
          <a:p>
            <a:pPr algn="l">
              <a:spcBef>
                <a:spcPts val="200"/>
              </a:spcBef>
              <a:spcAft>
                <a:spcPts val="0"/>
              </a:spcAft>
            </a:pPr>
            <a:r>
              <a:rPr sz="1100" b="1">
                <a:solidFill>
                  <a:srgbClr val="8B5CF6"/>
                </a:solidFill>
                <a:latin typeface="Segoe UI"/>
              </a:rPr>
              <a:t>Identity Check</a:t>
            </a:r>
          </a:p>
          <a:p>
            <a:pPr algn="l">
              <a:spcBef>
                <a:spcPts val="800"/>
              </a:spcBef>
              <a:spcAft>
                <a:spcPts val="0"/>
              </a:spcAft>
            </a:pPr>
            <a:r>
              <a:rPr sz="1200" b="0">
                <a:solidFill>
                  <a:srgbClr val="E2E8F0"/>
                </a:solidFill>
                <a:latin typeface="Segoe UI"/>
              </a:rPr>
              <a:t>Roll number vs register.
Catches duplicates &amp; mismatches.</a:t>
            </a:r>
          </a:p>
          <a:p>
            <a:pPr algn="l">
              <a:spcBef>
                <a:spcPts val="800"/>
              </a:spcBef>
              <a:spcAft>
                <a:spcPts val="0"/>
              </a:spcAft>
            </a:pPr>
            <a:r>
              <a:rPr sz="1000" b="0">
                <a:solidFill>
                  <a:srgbClr val="94A3B8"/>
                </a:solidFill>
                <a:latin typeface="Segoe UI"/>
              </a:rPr>
              <a:t>Digit OCR + Register Matching</a:t>
            </a:r>
          </a:p>
        </p:txBody>
      </p:sp>
      <p:sp>
        <p:nvSpPr>
          <p:cNvPr id="10" name="Rounded Rectangle 9"/>
          <p:cNvSpPr/>
          <p:nvPr/>
        </p:nvSpPr>
        <p:spPr>
          <a:xfrm>
            <a:off x="640080" y="3703320"/>
            <a:ext cx="3447288" cy="19202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40480"/>
            <a:ext cx="2990088" cy="1645920"/>
          </a:xfrm>
          <a:prstGeom prst="rect">
            <a:avLst/>
          </a:prstGeom>
          <a:noFill/>
        </p:spPr>
        <p:txBody>
          <a:bodyPr wrap="square">
            <a:spAutoFit/>
          </a:bodyPr>
          <a:lstStyle/>
          <a:p>
            <a:pPr algn="l"/>
            <a:r>
              <a:rPr sz="2000" b="1">
                <a:solidFill>
                  <a:srgbClr val="FFFFFF"/>
                </a:solidFill>
                <a:latin typeface="Segoe UI"/>
              </a:rPr>
              <a:t>ReEval Guard</a:t>
            </a:r>
          </a:p>
          <a:p>
            <a:pPr algn="l">
              <a:spcBef>
                <a:spcPts val="200"/>
              </a:spcBef>
              <a:spcAft>
                <a:spcPts val="0"/>
              </a:spcAft>
            </a:pPr>
            <a:r>
              <a:rPr sz="1100" b="1">
                <a:solidFill>
                  <a:srgbClr val="F59E0B"/>
                </a:solidFill>
                <a:latin typeface="Segoe UI"/>
              </a:rPr>
              <a:t>Borderline Queue</a:t>
            </a:r>
          </a:p>
          <a:p>
            <a:pPr algn="l">
              <a:spcBef>
                <a:spcPts val="800"/>
              </a:spcBef>
              <a:spcAft>
                <a:spcPts val="0"/>
              </a:spcAft>
            </a:pPr>
            <a:r>
              <a:rPr sz="1200" b="0">
                <a:solidFill>
                  <a:srgbClr val="E2E8F0"/>
                </a:solidFill>
                <a:latin typeface="Segoe UI"/>
              </a:rPr>
              <a:t>Queues borderline scores for
recheck BEFORE publication.</a:t>
            </a:r>
          </a:p>
          <a:p>
            <a:pPr algn="l">
              <a:spcBef>
                <a:spcPts val="800"/>
              </a:spcBef>
              <a:spcAft>
                <a:spcPts val="0"/>
              </a:spcAft>
            </a:pPr>
            <a:r>
              <a:rPr sz="1000" b="0">
                <a:solidFill>
                  <a:srgbClr val="94A3B8"/>
                </a:solidFill>
                <a:latin typeface="Segoe UI"/>
              </a:rPr>
              <a:t>Logic on MarkSafe Output</a:t>
            </a:r>
          </a:p>
        </p:txBody>
      </p:sp>
      <p:sp>
        <p:nvSpPr>
          <p:cNvPr id="12" name="Rounded Rectangle 11"/>
          <p:cNvSpPr/>
          <p:nvPr/>
        </p:nvSpPr>
        <p:spPr>
          <a:xfrm>
            <a:off x="4361688" y="3703320"/>
            <a:ext cx="3447288" cy="192024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3840480"/>
            <a:ext cx="2990088" cy="1645920"/>
          </a:xfrm>
          <a:prstGeom prst="rect">
            <a:avLst/>
          </a:prstGeom>
          <a:noFill/>
        </p:spPr>
        <p:txBody>
          <a:bodyPr wrap="square">
            <a:spAutoFit/>
          </a:bodyPr>
          <a:lstStyle/>
          <a:p>
            <a:pPr algn="l"/>
            <a:r>
              <a:rPr sz="2000" b="1">
                <a:solidFill>
                  <a:srgbClr val="FFFFFF"/>
                </a:solidFill>
                <a:latin typeface="Segoe UI"/>
              </a:rPr>
              <a:t>BlankCheck</a:t>
            </a:r>
          </a:p>
          <a:p>
            <a:pPr algn="l">
              <a:spcBef>
                <a:spcPts val="200"/>
              </a:spcBef>
              <a:spcAft>
                <a:spcPts val="0"/>
              </a:spcAft>
            </a:pPr>
            <a:r>
              <a:rPr sz="1100" b="1">
                <a:solidFill>
                  <a:srgbClr val="14B8A6"/>
                </a:solidFill>
                <a:latin typeface="Segoe UI"/>
              </a:rPr>
              <a:t>Page Triage</a:t>
            </a:r>
          </a:p>
          <a:p>
            <a:pPr algn="l">
              <a:spcBef>
                <a:spcPts val="800"/>
              </a:spcBef>
              <a:spcAft>
                <a:spcPts val="0"/>
              </a:spcAft>
            </a:pPr>
            <a:r>
              <a:rPr sz="1200" b="0">
                <a:solidFill>
                  <a:srgbClr val="E2E8F0"/>
                </a:solidFill>
                <a:latin typeface="Segoe UI"/>
              </a:rPr>
              <a:t>Page count + attempted vs
blank question triage.</a:t>
            </a:r>
          </a:p>
          <a:p>
            <a:pPr algn="l">
              <a:spcBef>
                <a:spcPts val="800"/>
              </a:spcBef>
              <a:spcAft>
                <a:spcPts val="0"/>
              </a:spcAft>
            </a:pPr>
            <a:r>
              <a:rPr sz="1000" b="0">
                <a:solidFill>
                  <a:srgbClr val="94A3B8"/>
                </a:solidFill>
                <a:latin typeface="Segoe UI"/>
              </a:rPr>
              <a:t>OpenCV Pixel Analysis</a:t>
            </a:r>
          </a:p>
        </p:txBody>
      </p:sp>
      <p:sp>
        <p:nvSpPr>
          <p:cNvPr id="14" name="Rounded Rectangle 13"/>
          <p:cNvSpPr/>
          <p:nvPr/>
        </p:nvSpPr>
        <p:spPr>
          <a:xfrm>
            <a:off x="8083296" y="3703320"/>
            <a:ext cx="3447288" cy="19202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3840480"/>
            <a:ext cx="2990088" cy="1645920"/>
          </a:xfrm>
          <a:prstGeom prst="rect">
            <a:avLst/>
          </a:prstGeom>
          <a:noFill/>
        </p:spPr>
        <p:txBody>
          <a:bodyPr wrap="square">
            <a:spAutoFit/>
          </a:bodyPr>
          <a:lstStyle/>
          <a:p>
            <a:pPr algn="l"/>
            <a:r>
              <a:rPr sz="2000" b="1">
                <a:solidFill>
                  <a:srgbClr val="FFFFFF"/>
                </a:solidFill>
                <a:latin typeface="Segoe UI"/>
              </a:rPr>
              <a:t>RubricLens</a:t>
            </a:r>
          </a:p>
          <a:p>
            <a:pPr algn="l">
              <a:spcBef>
                <a:spcPts val="200"/>
              </a:spcBef>
              <a:spcAft>
                <a:spcPts val="0"/>
              </a:spcAft>
            </a:pPr>
            <a:r>
              <a:rPr sz="1100" b="1">
                <a:solidFill>
                  <a:srgbClr val="EF4444"/>
                </a:solidFill>
                <a:latin typeface="Segoe UI"/>
              </a:rPr>
              <a:t>Grading Assist</a:t>
            </a:r>
          </a:p>
          <a:p>
            <a:pPr algn="l">
              <a:spcBef>
                <a:spcPts val="800"/>
              </a:spcBef>
              <a:spcAft>
                <a:spcPts val="0"/>
              </a:spcAft>
            </a:pPr>
            <a:r>
              <a:rPr sz="1200" b="0">
                <a:solidFill>
                  <a:srgbClr val="E2E8F0"/>
                </a:solidFill>
                <a:latin typeface="Segoe UI"/>
              </a:rPr>
              <a:t>Highlights rubric alignment.
Never outputs a mark.</a:t>
            </a:r>
          </a:p>
          <a:p>
            <a:pPr algn="l">
              <a:spcBef>
                <a:spcPts val="800"/>
              </a:spcBef>
              <a:spcAft>
                <a:spcPts val="0"/>
              </a:spcAft>
            </a:pPr>
            <a:r>
              <a:rPr sz="1000" b="0">
                <a:solidFill>
                  <a:srgbClr val="94A3B8"/>
                </a:solidFill>
                <a:latin typeface="Segoe UI"/>
              </a:rPr>
              <a:t>Retrieval + NLI Cross-Encoder</a:t>
            </a:r>
          </a:p>
        </p:txBody>
      </p:sp>
      <p:sp>
        <p:nvSpPr>
          <p:cNvPr id="16" name="Rounded Rectangle 15"/>
          <p:cNvSpPr/>
          <p:nvPr/>
        </p:nvSpPr>
        <p:spPr>
          <a:xfrm>
            <a:off x="640080" y="5989320"/>
            <a:ext cx="10911535" cy="777240"/>
          </a:xfrm>
          <a:prstGeom prst="roundRect">
            <a:avLst/>
          </a:prstGeom>
          <a:solidFill>
            <a:srgbClr val="1621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6062472"/>
            <a:ext cx="10362895" cy="640080"/>
          </a:xfrm>
          <a:prstGeom prst="rect">
            <a:avLst/>
          </a:prstGeom>
          <a:noFill/>
        </p:spPr>
        <p:txBody>
          <a:bodyPr wrap="square">
            <a:spAutoFit/>
          </a:bodyPr>
          <a:lstStyle/>
          <a:p>
            <a:pPr algn="ctr"/>
            <a:r>
              <a:rPr sz="1300" b="1">
                <a:solidFill>
                  <a:srgbClr val="3B82F6"/>
                </a:solidFill>
                <a:latin typeface="Segoe UI"/>
              </a:rPr>
              <a:t>⭐ CopyCatch Pipeline</a:t>
            </a:r>
          </a:p>
          <a:p>
            <a:pPr algn="ctr">
              <a:spcBef>
                <a:spcPts val="400"/>
              </a:spcBef>
              <a:spcAft>
                <a:spcPts val="0"/>
              </a:spcAft>
            </a:pPr>
            <a:r>
              <a:rPr sz="1200" b="0">
                <a:solidFill>
                  <a:srgbClr val="E2E8F0"/>
                </a:solidFill>
                <a:latin typeface="Segoe UI"/>
              </a:rPr>
              <a:t>Prose OCR  →  MiniLM Embeddings  →  Cosine Similarity Matrix  →  Z-Score Anomaly Ranking  →  Collusion Graph  →  Human Confirms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8B5CF6"/>
                </a:solidFill>
                <a:latin typeface="Segoe UI"/>
              </a:rPr>
              <a:t>ARCHITECTURE &amp; TECH STACK</a:t>
            </a:r>
          </a:p>
          <a:p>
            <a:pPr algn="l">
              <a:spcBef>
                <a:spcPts val="400"/>
              </a:spcBef>
              <a:spcAft>
                <a:spcPts val="0"/>
              </a:spcAft>
            </a:pPr>
            <a:r>
              <a:rPr sz="3200" b="1">
                <a:solidFill>
                  <a:srgbClr val="FFFFFF"/>
                </a:solidFill>
                <a:latin typeface="Segoe UI"/>
              </a:rPr>
              <a:t>One Pipeline · 100% Offline · Zero Cloud Dependencies</a:t>
            </a:r>
          </a:p>
        </p:txBody>
      </p:sp>
      <p:sp>
        <p:nvSpPr>
          <p:cNvPr id="4" name="Rounded Rectangle 3"/>
          <p:cNvSpPr/>
          <p:nvPr/>
        </p:nvSpPr>
        <p:spPr>
          <a:xfrm>
            <a:off x="640080" y="1600200"/>
            <a:ext cx="457200" cy="594360"/>
          </a:xfrm>
          <a:prstGeom prst="round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09928"/>
            <a:ext cx="457200" cy="365760"/>
          </a:xfrm>
          <a:prstGeom prst="rect">
            <a:avLst/>
          </a:prstGeom>
          <a:noFill/>
        </p:spPr>
        <p:txBody>
          <a:bodyPr wrap="square">
            <a:spAutoFit/>
          </a:bodyPr>
          <a:lstStyle/>
          <a:p>
            <a:pPr algn="ctr"/>
            <a:r>
              <a:rPr sz="1600" b="1">
                <a:solidFill>
                  <a:srgbClr val="FFFFFF"/>
                </a:solidFill>
                <a:latin typeface="Segoe UI"/>
              </a:rPr>
              <a:t>1</a:t>
            </a:r>
          </a:p>
        </p:txBody>
      </p:sp>
      <p:sp>
        <p:nvSpPr>
          <p:cNvPr id="6" name="Rounded Rectangle 5"/>
          <p:cNvSpPr/>
          <p:nvPr/>
        </p:nvSpPr>
        <p:spPr>
          <a:xfrm>
            <a:off x="1143000" y="16002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1645920"/>
            <a:ext cx="4572000" cy="502920"/>
          </a:xfrm>
          <a:prstGeom prst="rect">
            <a:avLst/>
          </a:prstGeom>
          <a:noFill/>
        </p:spPr>
        <p:txBody>
          <a:bodyPr wrap="square">
            <a:spAutoFit/>
          </a:bodyPr>
          <a:lstStyle/>
          <a:p>
            <a:pPr algn="l"/>
            <a:r>
              <a:rPr sz="1300" b="1">
                <a:solidFill>
                  <a:srgbClr val="FFFFFF"/>
                </a:solidFill>
                <a:latin typeface="Segoe UI"/>
              </a:rPr>
              <a:t>Scanned Answer Scripts</a:t>
            </a:r>
          </a:p>
          <a:p>
            <a:pPr algn="l">
              <a:spcBef>
                <a:spcPts val="200"/>
              </a:spcBef>
              <a:spcAft>
                <a:spcPts val="0"/>
              </a:spcAft>
            </a:pPr>
            <a:r>
              <a:rPr sz="1000" b="0">
                <a:solidFill>
                  <a:srgbClr val="94A3B8"/>
                </a:solidFill>
                <a:latin typeface="Segoe UI"/>
              </a:rPr>
              <a:t>PDF / PNG / JPG input</a:t>
            </a:r>
          </a:p>
        </p:txBody>
      </p:sp>
      <p:sp>
        <p:nvSpPr>
          <p:cNvPr id="8" name="Rectangle 7"/>
          <p:cNvSpPr/>
          <p:nvPr/>
        </p:nvSpPr>
        <p:spPr>
          <a:xfrm>
            <a:off x="822960" y="2194560"/>
            <a:ext cx="91440" cy="914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286000"/>
            <a:ext cx="457200" cy="5943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95728"/>
            <a:ext cx="457200" cy="365760"/>
          </a:xfrm>
          <a:prstGeom prst="rect">
            <a:avLst/>
          </a:prstGeom>
          <a:noFill/>
        </p:spPr>
        <p:txBody>
          <a:bodyPr wrap="square">
            <a:spAutoFit/>
          </a:bodyPr>
          <a:lstStyle/>
          <a:p>
            <a:pPr algn="ctr"/>
            <a:r>
              <a:rPr sz="1600" b="1">
                <a:solidFill>
                  <a:srgbClr val="FFFFFF"/>
                </a:solidFill>
                <a:latin typeface="Segoe UI"/>
              </a:rPr>
              <a:t>2</a:t>
            </a:r>
          </a:p>
        </p:txBody>
      </p:sp>
      <p:sp>
        <p:nvSpPr>
          <p:cNvPr id="11" name="Rounded Rectangle 10"/>
          <p:cNvSpPr/>
          <p:nvPr/>
        </p:nvSpPr>
        <p:spPr>
          <a:xfrm>
            <a:off x="1143000" y="22860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2331720"/>
            <a:ext cx="4572000" cy="502920"/>
          </a:xfrm>
          <a:prstGeom prst="rect">
            <a:avLst/>
          </a:prstGeom>
          <a:noFill/>
        </p:spPr>
        <p:txBody>
          <a:bodyPr wrap="square">
            <a:spAutoFit/>
          </a:bodyPr>
          <a:lstStyle/>
          <a:p>
            <a:pPr algn="l"/>
            <a:r>
              <a:rPr sz="1300" b="1">
                <a:solidFill>
                  <a:srgbClr val="FFFFFF"/>
                </a:solidFill>
                <a:latin typeface="Segoe UI"/>
              </a:rPr>
              <a:t>Preprocess</a:t>
            </a:r>
          </a:p>
          <a:p>
            <a:pPr algn="l">
              <a:spcBef>
                <a:spcPts val="200"/>
              </a:spcBef>
              <a:spcAft>
                <a:spcPts val="0"/>
              </a:spcAft>
            </a:pPr>
            <a:r>
              <a:rPr sz="1000" b="0">
                <a:solidFill>
                  <a:srgbClr val="94A3B8"/>
                </a:solidFill>
                <a:latin typeface="Segoe UI"/>
              </a:rPr>
              <a:t>Deskew → Denoise → Binarize (OpenCV)</a:t>
            </a:r>
          </a:p>
        </p:txBody>
      </p:sp>
      <p:sp>
        <p:nvSpPr>
          <p:cNvPr id="13" name="Rectangle 12"/>
          <p:cNvSpPr/>
          <p:nvPr/>
        </p:nvSpPr>
        <p:spPr>
          <a:xfrm>
            <a:off x="822960" y="2880360"/>
            <a:ext cx="9144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2971800"/>
            <a:ext cx="457200" cy="5943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81528"/>
            <a:ext cx="457200" cy="365760"/>
          </a:xfrm>
          <a:prstGeom prst="rect">
            <a:avLst/>
          </a:prstGeom>
          <a:noFill/>
        </p:spPr>
        <p:txBody>
          <a:bodyPr wrap="square">
            <a:spAutoFit/>
          </a:bodyPr>
          <a:lstStyle/>
          <a:p>
            <a:pPr algn="ctr"/>
            <a:r>
              <a:rPr sz="1600" b="1">
                <a:solidFill>
                  <a:srgbClr val="FFFFFF"/>
                </a:solidFill>
                <a:latin typeface="Segoe UI"/>
              </a:rPr>
              <a:t>3</a:t>
            </a:r>
          </a:p>
        </p:txBody>
      </p:sp>
      <p:sp>
        <p:nvSpPr>
          <p:cNvPr id="16" name="Rounded Rectangle 15"/>
          <p:cNvSpPr/>
          <p:nvPr/>
        </p:nvSpPr>
        <p:spPr>
          <a:xfrm>
            <a:off x="1143000" y="29718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017520"/>
            <a:ext cx="4572000" cy="502920"/>
          </a:xfrm>
          <a:prstGeom prst="rect">
            <a:avLst/>
          </a:prstGeom>
          <a:noFill/>
        </p:spPr>
        <p:txBody>
          <a:bodyPr wrap="square">
            <a:spAutoFit/>
          </a:bodyPr>
          <a:lstStyle/>
          <a:p>
            <a:pPr algn="l"/>
            <a:r>
              <a:rPr sz="1300" b="1">
                <a:solidFill>
                  <a:srgbClr val="FFFFFF"/>
                </a:solidFill>
                <a:latin typeface="Segoe UI"/>
              </a:rPr>
              <a:t>Zone Calibration</a:t>
            </a:r>
          </a:p>
          <a:p>
            <a:pPr algn="l">
              <a:spcBef>
                <a:spcPts val="200"/>
              </a:spcBef>
              <a:spcAft>
                <a:spcPts val="0"/>
              </a:spcAft>
            </a:pPr>
            <a:r>
              <a:rPr sz="1000" b="0">
                <a:solidFill>
                  <a:srgbClr val="94A3B8"/>
                </a:solidFill>
                <a:latin typeface="Segoe UI"/>
              </a:rPr>
              <a:t>One-time template per sheet format</a:t>
            </a:r>
          </a:p>
        </p:txBody>
      </p:sp>
      <p:sp>
        <p:nvSpPr>
          <p:cNvPr id="18" name="Rectangle 17"/>
          <p:cNvSpPr/>
          <p:nvPr/>
        </p:nvSpPr>
        <p:spPr>
          <a:xfrm>
            <a:off x="822960" y="3566160"/>
            <a:ext cx="9144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657600"/>
            <a:ext cx="45720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67328"/>
            <a:ext cx="457200" cy="365760"/>
          </a:xfrm>
          <a:prstGeom prst="rect">
            <a:avLst/>
          </a:prstGeom>
          <a:noFill/>
        </p:spPr>
        <p:txBody>
          <a:bodyPr wrap="square">
            <a:spAutoFit/>
          </a:bodyPr>
          <a:lstStyle/>
          <a:p>
            <a:pPr algn="ctr"/>
            <a:r>
              <a:rPr sz="1600" b="1">
                <a:solidFill>
                  <a:srgbClr val="FFFFFF"/>
                </a:solidFill>
                <a:latin typeface="Segoe UI"/>
              </a:rPr>
              <a:t>4</a:t>
            </a:r>
          </a:p>
        </p:txBody>
      </p:sp>
      <p:sp>
        <p:nvSpPr>
          <p:cNvPr id="21" name="Rounded Rectangle 20"/>
          <p:cNvSpPr/>
          <p:nvPr/>
        </p:nvSpPr>
        <p:spPr>
          <a:xfrm>
            <a:off x="1143000" y="36576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3703320"/>
            <a:ext cx="4572000" cy="502920"/>
          </a:xfrm>
          <a:prstGeom prst="rect">
            <a:avLst/>
          </a:prstGeom>
          <a:noFill/>
        </p:spPr>
        <p:txBody>
          <a:bodyPr wrap="square">
            <a:spAutoFit/>
          </a:bodyPr>
          <a:lstStyle/>
          <a:p>
            <a:pPr algn="l"/>
            <a:r>
              <a:rPr sz="1300" b="1">
                <a:solidFill>
                  <a:srgbClr val="FFFFFF"/>
                </a:solidFill>
                <a:latin typeface="Segoe UI"/>
              </a:rPr>
              <a:t>Dual-Tier OCR</a:t>
            </a:r>
          </a:p>
          <a:p>
            <a:pPr algn="l">
              <a:spcBef>
                <a:spcPts val="200"/>
              </a:spcBef>
              <a:spcAft>
                <a:spcPts val="0"/>
              </a:spcAft>
            </a:pPr>
            <a:r>
              <a:rPr sz="1000" b="0">
                <a:solidFill>
                  <a:srgbClr val="94A3B8"/>
                </a:solidFill>
                <a:latin typeface="Segoe UI"/>
              </a:rPr>
              <a:t>Digit OCR (marks, roll no) + Prose OCR (answers)</a:t>
            </a:r>
          </a:p>
        </p:txBody>
      </p:sp>
      <p:sp>
        <p:nvSpPr>
          <p:cNvPr id="23" name="Rectangle 22"/>
          <p:cNvSpPr/>
          <p:nvPr/>
        </p:nvSpPr>
        <p:spPr>
          <a:xfrm>
            <a:off x="822960" y="4251960"/>
            <a:ext cx="9144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4343400"/>
            <a:ext cx="457200" cy="5943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453128"/>
            <a:ext cx="457200" cy="365760"/>
          </a:xfrm>
          <a:prstGeom prst="rect">
            <a:avLst/>
          </a:prstGeom>
          <a:noFill/>
        </p:spPr>
        <p:txBody>
          <a:bodyPr wrap="square">
            <a:spAutoFit/>
          </a:bodyPr>
          <a:lstStyle/>
          <a:p>
            <a:pPr algn="ctr"/>
            <a:r>
              <a:rPr sz="1600" b="1">
                <a:solidFill>
                  <a:srgbClr val="FFFFFF"/>
                </a:solidFill>
                <a:latin typeface="Segoe UI"/>
              </a:rPr>
              <a:t>5</a:t>
            </a:r>
          </a:p>
        </p:txBody>
      </p:sp>
      <p:sp>
        <p:nvSpPr>
          <p:cNvPr id="26" name="Rounded Rectangle 25"/>
          <p:cNvSpPr/>
          <p:nvPr/>
        </p:nvSpPr>
        <p:spPr>
          <a:xfrm>
            <a:off x="1143000" y="43434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25880" y="4389120"/>
            <a:ext cx="4572000" cy="502920"/>
          </a:xfrm>
          <a:prstGeom prst="rect">
            <a:avLst/>
          </a:prstGeom>
          <a:noFill/>
        </p:spPr>
        <p:txBody>
          <a:bodyPr wrap="square">
            <a:spAutoFit/>
          </a:bodyPr>
          <a:lstStyle/>
          <a:p>
            <a:pPr algn="l"/>
            <a:r>
              <a:rPr sz="1300" b="1">
                <a:solidFill>
                  <a:srgbClr val="FFFFFF"/>
                </a:solidFill>
                <a:latin typeface="Segoe UI"/>
              </a:rPr>
              <a:t>6 Verification Engines</a:t>
            </a:r>
          </a:p>
          <a:p>
            <a:pPr algn="l">
              <a:spcBef>
                <a:spcPts val="200"/>
              </a:spcBef>
              <a:spcAft>
                <a:spcPts val="0"/>
              </a:spcAft>
            </a:pPr>
            <a:r>
              <a:rPr sz="1000" b="0">
                <a:solidFill>
                  <a:srgbClr val="94A3B8"/>
                </a:solidFill>
                <a:latin typeface="Segoe UI"/>
              </a:rPr>
              <a:t>MarkSafe · CopyCatch · ScriptID · ReEval · BlankCheck · RubricLens</a:t>
            </a:r>
          </a:p>
        </p:txBody>
      </p:sp>
      <p:sp>
        <p:nvSpPr>
          <p:cNvPr id="28" name="Rectangle 27"/>
          <p:cNvSpPr/>
          <p:nvPr/>
        </p:nvSpPr>
        <p:spPr>
          <a:xfrm>
            <a:off x="822960" y="4937760"/>
            <a:ext cx="9144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 y="5029200"/>
            <a:ext cx="457200" cy="5943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138928"/>
            <a:ext cx="457200" cy="365760"/>
          </a:xfrm>
          <a:prstGeom prst="rect">
            <a:avLst/>
          </a:prstGeom>
          <a:noFill/>
        </p:spPr>
        <p:txBody>
          <a:bodyPr wrap="square">
            <a:spAutoFit/>
          </a:bodyPr>
          <a:lstStyle/>
          <a:p>
            <a:pPr algn="ctr"/>
            <a:r>
              <a:rPr sz="1600" b="1">
                <a:solidFill>
                  <a:srgbClr val="FFFFFF"/>
                </a:solidFill>
                <a:latin typeface="Segoe UI"/>
              </a:rPr>
              <a:t>6</a:t>
            </a:r>
          </a:p>
        </p:txBody>
      </p:sp>
      <p:sp>
        <p:nvSpPr>
          <p:cNvPr id="31" name="Rounded Rectangle 30"/>
          <p:cNvSpPr/>
          <p:nvPr/>
        </p:nvSpPr>
        <p:spPr>
          <a:xfrm>
            <a:off x="1143000" y="50292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25880" y="5074920"/>
            <a:ext cx="4572000" cy="502920"/>
          </a:xfrm>
          <a:prstGeom prst="rect">
            <a:avLst/>
          </a:prstGeom>
          <a:noFill/>
        </p:spPr>
        <p:txBody>
          <a:bodyPr wrap="square">
            <a:spAutoFit/>
          </a:bodyPr>
          <a:lstStyle/>
          <a:p>
            <a:pPr algn="l"/>
            <a:r>
              <a:rPr sz="1300" b="1">
                <a:solidFill>
                  <a:srgbClr val="FFFFFF"/>
                </a:solidFill>
                <a:latin typeface="Segoe UI"/>
              </a:rPr>
              <a:t>Storage &amp; Persistence</a:t>
            </a:r>
          </a:p>
          <a:p>
            <a:pPr algn="l">
              <a:spcBef>
                <a:spcPts val="200"/>
              </a:spcBef>
              <a:spcAft>
                <a:spcPts val="0"/>
              </a:spcAft>
            </a:pPr>
            <a:r>
              <a:rPr sz="1000" b="0">
                <a:solidFill>
                  <a:srgbClr val="94A3B8"/>
                </a:solidFill>
                <a:latin typeface="Segoe UI"/>
              </a:rPr>
              <a:t>SQLite + JSON → ranked flags + evidence</a:t>
            </a:r>
          </a:p>
        </p:txBody>
      </p:sp>
      <p:sp>
        <p:nvSpPr>
          <p:cNvPr id="33" name="Rectangle 32"/>
          <p:cNvSpPr/>
          <p:nvPr/>
        </p:nvSpPr>
        <p:spPr>
          <a:xfrm>
            <a:off x="822960" y="5623560"/>
            <a:ext cx="91440" cy="91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 y="5715000"/>
            <a:ext cx="457200" cy="59436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824728"/>
            <a:ext cx="457200" cy="365760"/>
          </a:xfrm>
          <a:prstGeom prst="rect">
            <a:avLst/>
          </a:prstGeom>
          <a:noFill/>
        </p:spPr>
        <p:txBody>
          <a:bodyPr wrap="square">
            <a:spAutoFit/>
          </a:bodyPr>
          <a:lstStyle/>
          <a:p>
            <a:pPr algn="ctr"/>
            <a:r>
              <a:rPr sz="1600" b="1">
                <a:solidFill>
                  <a:srgbClr val="FFFFFF"/>
                </a:solidFill>
                <a:latin typeface="Segoe UI"/>
              </a:rPr>
              <a:t>7</a:t>
            </a:r>
          </a:p>
        </p:txBody>
      </p:sp>
      <p:sp>
        <p:nvSpPr>
          <p:cNvPr id="36" name="Rounded Rectangle 35"/>
          <p:cNvSpPr/>
          <p:nvPr/>
        </p:nvSpPr>
        <p:spPr>
          <a:xfrm>
            <a:off x="1143000" y="5715000"/>
            <a:ext cx="4983480" cy="5943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25880" y="5760720"/>
            <a:ext cx="4572000" cy="502920"/>
          </a:xfrm>
          <a:prstGeom prst="rect">
            <a:avLst/>
          </a:prstGeom>
          <a:noFill/>
        </p:spPr>
        <p:txBody>
          <a:bodyPr wrap="square">
            <a:spAutoFit/>
          </a:bodyPr>
          <a:lstStyle/>
          <a:p>
            <a:pPr algn="l"/>
            <a:r>
              <a:rPr sz="1300" b="1">
                <a:solidFill>
                  <a:srgbClr val="FFFFFF"/>
                </a:solidFill>
                <a:latin typeface="Segoe UI"/>
              </a:rPr>
              <a:t>Review Dashboard</a:t>
            </a:r>
          </a:p>
          <a:p>
            <a:pPr algn="l">
              <a:spcBef>
                <a:spcPts val="200"/>
              </a:spcBef>
              <a:spcAft>
                <a:spcPts val="0"/>
              </a:spcAft>
            </a:pPr>
            <a:r>
              <a:rPr sz="1000" b="0">
                <a:solidFill>
                  <a:srgbClr val="94A3B8"/>
                </a:solidFill>
                <a:latin typeface="Segoe UI"/>
              </a:rPr>
              <a:t>Human reviews flags → HUMAN DECIDES</a:t>
            </a:r>
          </a:p>
        </p:txBody>
      </p:sp>
      <p:sp>
        <p:nvSpPr>
          <p:cNvPr id="38" name="Rounded Rectangle 37"/>
          <p:cNvSpPr/>
          <p:nvPr/>
        </p:nvSpPr>
        <p:spPr>
          <a:xfrm>
            <a:off x="6492240" y="1600200"/>
            <a:ext cx="5059375" cy="4800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0" y="1737360"/>
            <a:ext cx="4510735" cy="320040"/>
          </a:xfrm>
          <a:prstGeom prst="rect">
            <a:avLst/>
          </a:prstGeom>
          <a:noFill/>
        </p:spPr>
        <p:txBody>
          <a:bodyPr wrap="square">
            <a:spAutoFit/>
          </a:bodyPr>
          <a:lstStyle/>
          <a:p>
            <a:pPr algn="l"/>
            <a:r>
              <a:rPr sz="1400" b="1">
                <a:solidFill>
                  <a:srgbClr val="8B5CF6"/>
                </a:solidFill>
                <a:latin typeface="Segoe UI"/>
              </a:rPr>
              <a:t>TECH STACK</a:t>
            </a:r>
          </a:p>
        </p:txBody>
      </p:sp>
      <p:sp>
        <p:nvSpPr>
          <p:cNvPr id="40" name="Rounded Rectangle 39"/>
          <p:cNvSpPr/>
          <p:nvPr/>
        </p:nvSpPr>
        <p:spPr>
          <a:xfrm>
            <a:off x="6583680" y="2148840"/>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0" y="2185416"/>
            <a:ext cx="2011680" cy="347472"/>
          </a:xfrm>
          <a:prstGeom prst="rect">
            <a:avLst/>
          </a:prstGeom>
          <a:noFill/>
        </p:spPr>
        <p:txBody>
          <a:bodyPr wrap="square">
            <a:spAutoFit/>
          </a:bodyPr>
          <a:lstStyle/>
          <a:p>
            <a:pPr algn="l"/>
            <a:r>
              <a:rPr sz="1100" b="0">
                <a:solidFill>
                  <a:srgbClr val="94A3B8"/>
                </a:solidFill>
                <a:latin typeface="Segoe UI"/>
              </a:rPr>
              <a:t>Language</a:t>
            </a:r>
          </a:p>
        </p:txBody>
      </p:sp>
      <p:sp>
        <p:nvSpPr>
          <p:cNvPr id="42" name="TextBox 41"/>
          <p:cNvSpPr txBox="1"/>
          <p:nvPr/>
        </p:nvSpPr>
        <p:spPr>
          <a:xfrm>
            <a:off x="8869680" y="2185416"/>
            <a:ext cx="2377440" cy="347472"/>
          </a:xfrm>
          <a:prstGeom prst="rect">
            <a:avLst/>
          </a:prstGeom>
          <a:noFill/>
        </p:spPr>
        <p:txBody>
          <a:bodyPr wrap="square">
            <a:spAutoFit/>
          </a:bodyPr>
          <a:lstStyle/>
          <a:p>
            <a:pPr algn="l"/>
            <a:r>
              <a:rPr sz="1100" b="1">
                <a:solidFill>
                  <a:srgbClr val="FFFFFF"/>
                </a:solidFill>
                <a:latin typeface="Segoe UI"/>
              </a:rPr>
              <a:t>Python 3.11</a:t>
            </a:r>
          </a:p>
        </p:txBody>
      </p:sp>
      <p:sp>
        <p:nvSpPr>
          <p:cNvPr id="43" name="TextBox 42"/>
          <p:cNvSpPr txBox="1"/>
          <p:nvPr/>
        </p:nvSpPr>
        <p:spPr>
          <a:xfrm>
            <a:off x="6766560" y="2532888"/>
            <a:ext cx="2011680" cy="347472"/>
          </a:xfrm>
          <a:prstGeom prst="rect">
            <a:avLst/>
          </a:prstGeom>
          <a:noFill/>
        </p:spPr>
        <p:txBody>
          <a:bodyPr wrap="square">
            <a:spAutoFit/>
          </a:bodyPr>
          <a:lstStyle/>
          <a:p>
            <a:pPr algn="l"/>
            <a:r>
              <a:rPr sz="1100" b="0">
                <a:solidFill>
                  <a:srgbClr val="94A3B8"/>
                </a:solidFill>
                <a:latin typeface="Segoe UI"/>
              </a:rPr>
              <a:t>Image Processing</a:t>
            </a:r>
          </a:p>
        </p:txBody>
      </p:sp>
      <p:sp>
        <p:nvSpPr>
          <p:cNvPr id="44" name="TextBox 43"/>
          <p:cNvSpPr txBox="1"/>
          <p:nvPr/>
        </p:nvSpPr>
        <p:spPr>
          <a:xfrm>
            <a:off x="8869680" y="2532888"/>
            <a:ext cx="2377440" cy="347472"/>
          </a:xfrm>
          <a:prstGeom prst="rect">
            <a:avLst/>
          </a:prstGeom>
          <a:noFill/>
        </p:spPr>
        <p:txBody>
          <a:bodyPr wrap="square">
            <a:spAutoFit/>
          </a:bodyPr>
          <a:lstStyle/>
          <a:p>
            <a:pPr algn="l"/>
            <a:r>
              <a:rPr sz="1100" b="1">
                <a:solidFill>
                  <a:srgbClr val="FFFFFF"/>
                </a:solidFill>
                <a:latin typeface="Segoe UI"/>
              </a:rPr>
              <a:t>OpenCV</a:t>
            </a:r>
          </a:p>
        </p:txBody>
      </p:sp>
      <p:sp>
        <p:nvSpPr>
          <p:cNvPr id="45" name="Rounded Rectangle 44"/>
          <p:cNvSpPr/>
          <p:nvPr/>
        </p:nvSpPr>
        <p:spPr>
          <a:xfrm>
            <a:off x="6583680" y="2843784"/>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0" y="2880360"/>
            <a:ext cx="2011680" cy="347472"/>
          </a:xfrm>
          <a:prstGeom prst="rect">
            <a:avLst/>
          </a:prstGeom>
          <a:noFill/>
        </p:spPr>
        <p:txBody>
          <a:bodyPr wrap="square">
            <a:spAutoFit/>
          </a:bodyPr>
          <a:lstStyle/>
          <a:p>
            <a:pPr algn="l"/>
            <a:r>
              <a:rPr sz="1100" b="0">
                <a:solidFill>
                  <a:srgbClr val="94A3B8"/>
                </a:solidFill>
                <a:latin typeface="Segoe UI"/>
              </a:rPr>
              <a:t>OCR Engine</a:t>
            </a:r>
          </a:p>
        </p:txBody>
      </p:sp>
      <p:sp>
        <p:nvSpPr>
          <p:cNvPr id="47" name="TextBox 46"/>
          <p:cNvSpPr txBox="1"/>
          <p:nvPr/>
        </p:nvSpPr>
        <p:spPr>
          <a:xfrm>
            <a:off x="8869680" y="2880360"/>
            <a:ext cx="2377440" cy="347472"/>
          </a:xfrm>
          <a:prstGeom prst="rect">
            <a:avLst/>
          </a:prstGeom>
          <a:noFill/>
        </p:spPr>
        <p:txBody>
          <a:bodyPr wrap="square">
            <a:spAutoFit/>
          </a:bodyPr>
          <a:lstStyle/>
          <a:p>
            <a:pPr algn="l"/>
            <a:r>
              <a:rPr sz="1100" b="1">
                <a:solidFill>
                  <a:srgbClr val="FFFFFF"/>
                </a:solidFill>
                <a:latin typeface="Segoe UI"/>
              </a:rPr>
              <a:t>PaddleOCR (local, CPU)</a:t>
            </a:r>
          </a:p>
        </p:txBody>
      </p:sp>
      <p:sp>
        <p:nvSpPr>
          <p:cNvPr id="48" name="TextBox 47"/>
          <p:cNvSpPr txBox="1"/>
          <p:nvPr/>
        </p:nvSpPr>
        <p:spPr>
          <a:xfrm>
            <a:off x="6766560" y="3227832"/>
            <a:ext cx="2011680" cy="347472"/>
          </a:xfrm>
          <a:prstGeom prst="rect">
            <a:avLst/>
          </a:prstGeom>
          <a:noFill/>
        </p:spPr>
        <p:txBody>
          <a:bodyPr wrap="square">
            <a:spAutoFit/>
          </a:bodyPr>
          <a:lstStyle/>
          <a:p>
            <a:pPr algn="l"/>
            <a:r>
              <a:rPr sz="1100" b="0">
                <a:solidFill>
                  <a:srgbClr val="94A3B8"/>
                </a:solidFill>
                <a:latin typeface="Segoe UI"/>
              </a:rPr>
              <a:t>Embeddings</a:t>
            </a:r>
          </a:p>
        </p:txBody>
      </p:sp>
      <p:sp>
        <p:nvSpPr>
          <p:cNvPr id="49" name="TextBox 48"/>
          <p:cNvSpPr txBox="1"/>
          <p:nvPr/>
        </p:nvSpPr>
        <p:spPr>
          <a:xfrm>
            <a:off x="8869680" y="3227832"/>
            <a:ext cx="2377440" cy="347472"/>
          </a:xfrm>
          <a:prstGeom prst="rect">
            <a:avLst/>
          </a:prstGeom>
          <a:noFill/>
        </p:spPr>
        <p:txBody>
          <a:bodyPr wrap="square">
            <a:spAutoFit/>
          </a:bodyPr>
          <a:lstStyle/>
          <a:p>
            <a:pPr algn="l"/>
            <a:r>
              <a:rPr sz="1100" b="1">
                <a:solidFill>
                  <a:srgbClr val="FFFFFF"/>
                </a:solidFill>
                <a:latin typeface="Segoe UI"/>
              </a:rPr>
              <a:t>all-MiniLM-L6-v2 (80 MB)</a:t>
            </a:r>
          </a:p>
        </p:txBody>
      </p:sp>
      <p:sp>
        <p:nvSpPr>
          <p:cNvPr id="50" name="Rounded Rectangle 49"/>
          <p:cNvSpPr/>
          <p:nvPr/>
        </p:nvSpPr>
        <p:spPr>
          <a:xfrm>
            <a:off x="6583680" y="3538728"/>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0" y="3575304"/>
            <a:ext cx="2011680" cy="347472"/>
          </a:xfrm>
          <a:prstGeom prst="rect">
            <a:avLst/>
          </a:prstGeom>
          <a:noFill/>
        </p:spPr>
        <p:txBody>
          <a:bodyPr wrap="square">
            <a:spAutoFit/>
          </a:bodyPr>
          <a:lstStyle/>
          <a:p>
            <a:pPr algn="l"/>
            <a:r>
              <a:rPr sz="1100" b="0">
                <a:solidFill>
                  <a:srgbClr val="94A3B8"/>
                </a:solidFill>
                <a:latin typeface="Segoe UI"/>
              </a:rPr>
              <a:t>NLI</a:t>
            </a:r>
          </a:p>
        </p:txBody>
      </p:sp>
      <p:sp>
        <p:nvSpPr>
          <p:cNvPr id="52" name="TextBox 51"/>
          <p:cNvSpPr txBox="1"/>
          <p:nvPr/>
        </p:nvSpPr>
        <p:spPr>
          <a:xfrm>
            <a:off x="8869680" y="3575304"/>
            <a:ext cx="2377440" cy="347472"/>
          </a:xfrm>
          <a:prstGeom prst="rect">
            <a:avLst/>
          </a:prstGeom>
          <a:noFill/>
        </p:spPr>
        <p:txBody>
          <a:bodyPr wrap="square">
            <a:spAutoFit/>
          </a:bodyPr>
          <a:lstStyle/>
          <a:p>
            <a:pPr algn="l"/>
            <a:r>
              <a:rPr sz="1100" b="1">
                <a:solidFill>
                  <a:srgbClr val="FFFFFF"/>
                </a:solidFill>
                <a:latin typeface="Segoe UI"/>
              </a:rPr>
              <a:t>DeBERTa-v3-xsmall</a:t>
            </a:r>
          </a:p>
        </p:txBody>
      </p:sp>
      <p:sp>
        <p:nvSpPr>
          <p:cNvPr id="53" name="TextBox 52"/>
          <p:cNvSpPr txBox="1"/>
          <p:nvPr/>
        </p:nvSpPr>
        <p:spPr>
          <a:xfrm>
            <a:off x="6766560" y="3922776"/>
            <a:ext cx="2011680" cy="347472"/>
          </a:xfrm>
          <a:prstGeom prst="rect">
            <a:avLst/>
          </a:prstGeom>
          <a:noFill/>
        </p:spPr>
        <p:txBody>
          <a:bodyPr wrap="square">
            <a:spAutoFit/>
          </a:bodyPr>
          <a:lstStyle/>
          <a:p>
            <a:pPr algn="l"/>
            <a:r>
              <a:rPr sz="1100" b="0">
                <a:solidFill>
                  <a:srgbClr val="94A3B8"/>
                </a:solidFill>
                <a:latin typeface="Segoe UI"/>
              </a:rPr>
              <a:t>Similarity</a:t>
            </a:r>
          </a:p>
        </p:txBody>
      </p:sp>
      <p:sp>
        <p:nvSpPr>
          <p:cNvPr id="54" name="TextBox 53"/>
          <p:cNvSpPr txBox="1"/>
          <p:nvPr/>
        </p:nvSpPr>
        <p:spPr>
          <a:xfrm>
            <a:off x="8869680" y="3922776"/>
            <a:ext cx="2377440" cy="347472"/>
          </a:xfrm>
          <a:prstGeom prst="rect">
            <a:avLst/>
          </a:prstGeom>
          <a:noFill/>
        </p:spPr>
        <p:txBody>
          <a:bodyPr wrap="square">
            <a:spAutoFit/>
          </a:bodyPr>
          <a:lstStyle/>
          <a:p>
            <a:pPr algn="l"/>
            <a:r>
              <a:rPr sz="1100" b="1">
                <a:solidFill>
                  <a:srgbClr val="FFFFFF"/>
                </a:solidFill>
                <a:latin typeface="Segoe UI"/>
              </a:rPr>
              <a:t>NumPy + scikit-learn</a:t>
            </a:r>
          </a:p>
        </p:txBody>
      </p:sp>
      <p:sp>
        <p:nvSpPr>
          <p:cNvPr id="55" name="Rounded Rectangle 54"/>
          <p:cNvSpPr/>
          <p:nvPr/>
        </p:nvSpPr>
        <p:spPr>
          <a:xfrm>
            <a:off x="6583680" y="4233672"/>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66560" y="4270248"/>
            <a:ext cx="2011680" cy="347472"/>
          </a:xfrm>
          <a:prstGeom prst="rect">
            <a:avLst/>
          </a:prstGeom>
          <a:noFill/>
        </p:spPr>
        <p:txBody>
          <a:bodyPr wrap="square">
            <a:spAutoFit/>
          </a:bodyPr>
          <a:lstStyle/>
          <a:p>
            <a:pPr algn="l"/>
            <a:r>
              <a:rPr sz="1100" b="0">
                <a:solidFill>
                  <a:srgbClr val="94A3B8"/>
                </a:solidFill>
                <a:latin typeface="Segoe UI"/>
              </a:rPr>
              <a:t>Collusion Graph</a:t>
            </a:r>
          </a:p>
        </p:txBody>
      </p:sp>
      <p:sp>
        <p:nvSpPr>
          <p:cNvPr id="57" name="TextBox 56"/>
          <p:cNvSpPr txBox="1"/>
          <p:nvPr/>
        </p:nvSpPr>
        <p:spPr>
          <a:xfrm>
            <a:off x="8869680" y="4270248"/>
            <a:ext cx="2377440" cy="347472"/>
          </a:xfrm>
          <a:prstGeom prst="rect">
            <a:avLst/>
          </a:prstGeom>
          <a:noFill/>
        </p:spPr>
        <p:txBody>
          <a:bodyPr wrap="square">
            <a:spAutoFit/>
          </a:bodyPr>
          <a:lstStyle/>
          <a:p>
            <a:pPr algn="l"/>
            <a:r>
              <a:rPr sz="1100" b="1">
                <a:solidFill>
                  <a:srgbClr val="FFFFFF"/>
                </a:solidFill>
                <a:latin typeface="Segoe UI"/>
              </a:rPr>
              <a:t>NetworkX + PyVis</a:t>
            </a:r>
          </a:p>
        </p:txBody>
      </p:sp>
      <p:sp>
        <p:nvSpPr>
          <p:cNvPr id="58" name="TextBox 57"/>
          <p:cNvSpPr txBox="1"/>
          <p:nvPr/>
        </p:nvSpPr>
        <p:spPr>
          <a:xfrm>
            <a:off x="6766560" y="4617720"/>
            <a:ext cx="2011680" cy="347472"/>
          </a:xfrm>
          <a:prstGeom prst="rect">
            <a:avLst/>
          </a:prstGeom>
          <a:noFill/>
        </p:spPr>
        <p:txBody>
          <a:bodyPr wrap="square">
            <a:spAutoFit/>
          </a:bodyPr>
          <a:lstStyle/>
          <a:p>
            <a:pPr algn="l"/>
            <a:r>
              <a:rPr sz="1100" b="0">
                <a:solidFill>
                  <a:srgbClr val="94A3B8"/>
                </a:solidFill>
                <a:latin typeface="Segoe UI"/>
              </a:rPr>
              <a:t>Backend API</a:t>
            </a:r>
          </a:p>
        </p:txBody>
      </p:sp>
      <p:sp>
        <p:nvSpPr>
          <p:cNvPr id="59" name="TextBox 58"/>
          <p:cNvSpPr txBox="1"/>
          <p:nvPr/>
        </p:nvSpPr>
        <p:spPr>
          <a:xfrm>
            <a:off x="8869680" y="4617720"/>
            <a:ext cx="2377440" cy="347472"/>
          </a:xfrm>
          <a:prstGeom prst="rect">
            <a:avLst/>
          </a:prstGeom>
          <a:noFill/>
        </p:spPr>
        <p:txBody>
          <a:bodyPr wrap="square">
            <a:spAutoFit/>
          </a:bodyPr>
          <a:lstStyle/>
          <a:p>
            <a:pPr algn="l"/>
            <a:r>
              <a:rPr sz="1100" b="1">
                <a:solidFill>
                  <a:srgbClr val="FFFFFF"/>
                </a:solidFill>
                <a:latin typeface="Segoe UI"/>
              </a:rPr>
              <a:t>FastAPI + Uvicorn</a:t>
            </a:r>
          </a:p>
        </p:txBody>
      </p:sp>
      <p:sp>
        <p:nvSpPr>
          <p:cNvPr id="60" name="Rounded Rectangle 59"/>
          <p:cNvSpPr/>
          <p:nvPr/>
        </p:nvSpPr>
        <p:spPr>
          <a:xfrm>
            <a:off x="6583680" y="4928616"/>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0" y="4965192"/>
            <a:ext cx="2011680" cy="347472"/>
          </a:xfrm>
          <a:prstGeom prst="rect">
            <a:avLst/>
          </a:prstGeom>
          <a:noFill/>
        </p:spPr>
        <p:txBody>
          <a:bodyPr wrap="square">
            <a:spAutoFit/>
          </a:bodyPr>
          <a:lstStyle/>
          <a:p>
            <a:pPr algn="l"/>
            <a:r>
              <a:rPr sz="1100" b="0">
                <a:solidFill>
                  <a:srgbClr val="94A3B8"/>
                </a:solidFill>
                <a:latin typeface="Segoe UI"/>
              </a:rPr>
              <a:t>Frontend</a:t>
            </a:r>
          </a:p>
        </p:txBody>
      </p:sp>
      <p:sp>
        <p:nvSpPr>
          <p:cNvPr id="62" name="TextBox 61"/>
          <p:cNvSpPr txBox="1"/>
          <p:nvPr/>
        </p:nvSpPr>
        <p:spPr>
          <a:xfrm>
            <a:off x="8869680" y="4965192"/>
            <a:ext cx="2377440" cy="347472"/>
          </a:xfrm>
          <a:prstGeom prst="rect">
            <a:avLst/>
          </a:prstGeom>
          <a:noFill/>
        </p:spPr>
        <p:txBody>
          <a:bodyPr wrap="square">
            <a:spAutoFit/>
          </a:bodyPr>
          <a:lstStyle/>
          <a:p>
            <a:pPr algn="l"/>
            <a:r>
              <a:rPr sz="1100" b="1">
                <a:solidFill>
                  <a:srgbClr val="FFFFFF"/>
                </a:solidFill>
                <a:latin typeface="Segoe UI"/>
              </a:rPr>
              <a:t>Next.js</a:t>
            </a:r>
          </a:p>
        </p:txBody>
      </p:sp>
      <p:sp>
        <p:nvSpPr>
          <p:cNvPr id="63" name="TextBox 62"/>
          <p:cNvSpPr txBox="1"/>
          <p:nvPr/>
        </p:nvSpPr>
        <p:spPr>
          <a:xfrm>
            <a:off x="6766560" y="5312664"/>
            <a:ext cx="2011680" cy="347472"/>
          </a:xfrm>
          <a:prstGeom prst="rect">
            <a:avLst/>
          </a:prstGeom>
          <a:noFill/>
        </p:spPr>
        <p:txBody>
          <a:bodyPr wrap="square">
            <a:spAutoFit/>
          </a:bodyPr>
          <a:lstStyle/>
          <a:p>
            <a:pPr algn="l"/>
            <a:r>
              <a:rPr sz="1100" b="0">
                <a:solidFill>
                  <a:srgbClr val="94A3B8"/>
                </a:solidFill>
                <a:latin typeface="Segoe UI"/>
              </a:rPr>
              <a:t>Storage</a:t>
            </a:r>
          </a:p>
        </p:txBody>
      </p:sp>
      <p:sp>
        <p:nvSpPr>
          <p:cNvPr id="64" name="TextBox 63"/>
          <p:cNvSpPr txBox="1"/>
          <p:nvPr/>
        </p:nvSpPr>
        <p:spPr>
          <a:xfrm>
            <a:off x="8869680" y="5312664"/>
            <a:ext cx="2377440" cy="347472"/>
          </a:xfrm>
          <a:prstGeom prst="rect">
            <a:avLst/>
          </a:prstGeom>
          <a:noFill/>
        </p:spPr>
        <p:txBody>
          <a:bodyPr wrap="square">
            <a:spAutoFit/>
          </a:bodyPr>
          <a:lstStyle/>
          <a:p>
            <a:pPr algn="l"/>
            <a:r>
              <a:rPr sz="1100" b="1">
                <a:solidFill>
                  <a:srgbClr val="FFFFFF"/>
                </a:solidFill>
                <a:latin typeface="Segoe UI"/>
              </a:rPr>
              <a:t>SQLite + JSON</a:t>
            </a:r>
          </a:p>
        </p:txBody>
      </p:sp>
      <p:sp>
        <p:nvSpPr>
          <p:cNvPr id="65" name="Rounded Rectangle 64"/>
          <p:cNvSpPr/>
          <p:nvPr/>
        </p:nvSpPr>
        <p:spPr>
          <a:xfrm>
            <a:off x="6583680" y="5623560"/>
            <a:ext cx="4876495" cy="347472"/>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66560" y="5660136"/>
            <a:ext cx="2011680" cy="347472"/>
          </a:xfrm>
          <a:prstGeom prst="rect">
            <a:avLst/>
          </a:prstGeom>
          <a:noFill/>
        </p:spPr>
        <p:txBody>
          <a:bodyPr wrap="square">
            <a:spAutoFit/>
          </a:bodyPr>
          <a:lstStyle/>
          <a:p>
            <a:pPr algn="l"/>
            <a:r>
              <a:rPr sz="1100" b="0">
                <a:solidFill>
                  <a:srgbClr val="94A3B8"/>
                </a:solidFill>
                <a:latin typeface="Segoe UI"/>
              </a:rPr>
              <a:t>PDF Handling</a:t>
            </a:r>
          </a:p>
        </p:txBody>
      </p:sp>
      <p:sp>
        <p:nvSpPr>
          <p:cNvPr id="67" name="TextBox 66"/>
          <p:cNvSpPr txBox="1"/>
          <p:nvPr/>
        </p:nvSpPr>
        <p:spPr>
          <a:xfrm>
            <a:off x="8869680" y="5660136"/>
            <a:ext cx="2377440" cy="347472"/>
          </a:xfrm>
          <a:prstGeom prst="rect">
            <a:avLst/>
          </a:prstGeom>
          <a:noFill/>
        </p:spPr>
        <p:txBody>
          <a:bodyPr wrap="square">
            <a:spAutoFit/>
          </a:bodyPr>
          <a:lstStyle/>
          <a:p>
            <a:pPr algn="l"/>
            <a:r>
              <a:rPr sz="1100" b="1">
                <a:solidFill>
                  <a:srgbClr val="FFFFFF"/>
                </a:solidFill>
                <a:latin typeface="Segoe UI"/>
              </a:rPr>
              <a:t>pypdfium2</a:t>
            </a:r>
          </a:p>
        </p:txBody>
      </p:sp>
      <p:sp>
        <p:nvSpPr>
          <p:cNvPr id="68" name="TextBox 67"/>
          <p:cNvSpPr txBox="1"/>
          <p:nvPr/>
        </p:nvSpPr>
        <p:spPr>
          <a:xfrm>
            <a:off x="6766560" y="6108192"/>
            <a:ext cx="4510735" cy="548640"/>
          </a:xfrm>
          <a:prstGeom prst="rect">
            <a:avLst/>
          </a:prstGeom>
          <a:noFill/>
        </p:spPr>
        <p:txBody>
          <a:bodyPr wrap="square">
            <a:spAutoFit/>
          </a:bodyPr>
          <a:lstStyle/>
          <a:p>
            <a:pPr algn="l"/>
            <a:r>
              <a:rPr sz="1100" b="1">
                <a:solidFill>
                  <a:srgbClr val="10B981"/>
                </a:solidFill>
                <a:latin typeface="Segoe UI"/>
              </a:rPr>
              <a:t>No GPT / No LLM anywhere in the pipeline.</a:t>
            </a:r>
          </a:p>
          <a:p>
            <a:pPr algn="l">
              <a:spcBef>
                <a:spcPts val="200"/>
              </a:spcBef>
              <a:spcAft>
                <a:spcPts val="0"/>
              </a:spcAft>
            </a:pPr>
            <a:r>
              <a:rPr sz="1000" b="0">
                <a:solidFill>
                  <a:srgbClr val="94A3B8"/>
                </a:solidFill>
                <a:latin typeface="Segoe UI"/>
              </a:rPr>
              <a:t>All models are local, CPU-only, and fully explainable.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10B981"/>
                </a:solidFill>
                <a:latin typeface="Segoe UI"/>
              </a:rPr>
              <a:t>IMPACT &amp; COMPLIANCE</a:t>
            </a:r>
          </a:p>
          <a:p>
            <a:pPr algn="l">
              <a:spcBef>
                <a:spcPts val="400"/>
              </a:spcBef>
              <a:spcAft>
                <a:spcPts val="0"/>
              </a:spcAft>
            </a:pPr>
            <a:r>
              <a:rPr sz="3200" b="1">
                <a:solidFill>
                  <a:srgbClr val="FFFFFF"/>
                </a:solidFill>
                <a:latin typeface="Segoe UI"/>
              </a:rPr>
              <a:t>Measurable Results, Not Promises</a:t>
            </a:r>
          </a:p>
        </p:txBody>
      </p:sp>
      <p:sp>
        <p:nvSpPr>
          <p:cNvPr id="4" name="Rounded Rectangle 3"/>
          <p:cNvSpPr/>
          <p:nvPr/>
        </p:nvSpPr>
        <p:spPr>
          <a:xfrm>
            <a:off x="640080" y="1554480"/>
            <a:ext cx="3447288" cy="14173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64208"/>
            <a:ext cx="2990088" cy="1197864"/>
          </a:xfrm>
          <a:prstGeom prst="rect">
            <a:avLst/>
          </a:prstGeom>
          <a:noFill/>
        </p:spPr>
        <p:txBody>
          <a:bodyPr wrap="square">
            <a:spAutoFit/>
          </a:bodyPr>
          <a:lstStyle/>
          <a:p>
            <a:pPr algn="l"/>
            <a:r>
              <a:rPr sz="2400" b="1">
                <a:solidFill>
                  <a:srgbClr val="3B82F6"/>
                </a:solidFill>
                <a:latin typeface="Segoe UI"/>
              </a:rPr>
              <a:t>0% → 100%</a:t>
            </a:r>
          </a:p>
          <a:p>
            <a:pPr algn="l">
              <a:spcBef>
                <a:spcPts val="200"/>
              </a:spcBef>
              <a:spcAft>
                <a:spcPts val="0"/>
              </a:spcAft>
            </a:pPr>
            <a:r>
              <a:rPr sz="1300" b="1">
                <a:solidFill>
                  <a:srgbClr val="FFFFFF"/>
                </a:solidFill>
                <a:latin typeface="Segoe UI"/>
              </a:rPr>
              <a:t>Collusion Coverage</a:t>
            </a:r>
          </a:p>
          <a:p>
            <a:pPr algn="l">
              <a:spcBef>
                <a:spcPts val="400"/>
              </a:spcBef>
              <a:spcAft>
                <a:spcPts val="0"/>
              </a:spcAft>
            </a:pPr>
            <a:r>
              <a:rPr sz="1100" b="0">
                <a:solidFill>
                  <a:srgbClr val="94A3B8"/>
                </a:solidFill>
                <a:latin typeface="Segoe UI"/>
              </a:rPr>
              <a:t>44,850 comparisons
done in minutes</a:t>
            </a:r>
          </a:p>
        </p:txBody>
      </p:sp>
      <p:sp>
        <p:nvSpPr>
          <p:cNvPr id="6" name="Rounded Rectangle 5"/>
          <p:cNvSpPr/>
          <p:nvPr/>
        </p:nvSpPr>
        <p:spPr>
          <a:xfrm>
            <a:off x="4361688" y="1554480"/>
            <a:ext cx="3447288" cy="14173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1664208"/>
            <a:ext cx="2990088" cy="1197864"/>
          </a:xfrm>
          <a:prstGeom prst="rect">
            <a:avLst/>
          </a:prstGeom>
          <a:noFill/>
        </p:spPr>
        <p:txBody>
          <a:bodyPr wrap="square">
            <a:spAutoFit/>
          </a:bodyPr>
          <a:lstStyle/>
          <a:p>
            <a:pPr algn="l"/>
            <a:r>
              <a:rPr sz="2400" b="1">
                <a:solidFill>
                  <a:srgbClr val="10B981"/>
                </a:solidFill>
                <a:latin typeface="Segoe UI"/>
              </a:rPr>
              <a:t>Days → Secs</a:t>
            </a:r>
          </a:p>
          <a:p>
            <a:pPr algn="l">
              <a:spcBef>
                <a:spcPts val="200"/>
              </a:spcBef>
              <a:spcAft>
                <a:spcPts val="0"/>
              </a:spcAft>
            </a:pPr>
            <a:r>
              <a:rPr sz="1300" b="1">
                <a:solidFill>
                  <a:srgbClr val="FFFFFF"/>
                </a:solidFill>
                <a:latin typeface="Segoe UI"/>
              </a:rPr>
              <a:t>Totaling Verification</a:t>
            </a:r>
          </a:p>
          <a:p>
            <a:pPr algn="l">
              <a:spcBef>
                <a:spcPts val="400"/>
              </a:spcBef>
              <a:spcAft>
                <a:spcPts val="0"/>
              </a:spcAft>
            </a:pPr>
            <a:r>
              <a:rPr sz="1100" b="0">
                <a:solidFill>
                  <a:srgbClr val="94A3B8"/>
                </a:solidFill>
                <a:latin typeface="Segoe UI"/>
              </a:rPr>
              <a:t>Zero false verdicts
by construction</a:t>
            </a:r>
          </a:p>
        </p:txBody>
      </p:sp>
      <p:sp>
        <p:nvSpPr>
          <p:cNvPr id="8" name="Rounded Rectangle 7"/>
          <p:cNvSpPr/>
          <p:nvPr/>
        </p:nvSpPr>
        <p:spPr>
          <a:xfrm>
            <a:off x="8083296" y="1554480"/>
            <a:ext cx="3447288" cy="1417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1896" y="1664208"/>
            <a:ext cx="2990088" cy="1197864"/>
          </a:xfrm>
          <a:prstGeom prst="rect">
            <a:avLst/>
          </a:prstGeom>
          <a:noFill/>
        </p:spPr>
        <p:txBody>
          <a:bodyPr wrap="square">
            <a:spAutoFit/>
          </a:bodyPr>
          <a:lstStyle/>
          <a:p>
            <a:pPr algn="l"/>
            <a:r>
              <a:rPr sz="2400" b="1">
                <a:solidFill>
                  <a:srgbClr val="F59E0B"/>
                </a:solidFill>
                <a:latin typeface="Segoe UI"/>
              </a:rPr>
              <a:t>∼50% Cut</a:t>
            </a:r>
          </a:p>
          <a:p>
            <a:pPr algn="l">
              <a:spcBef>
                <a:spcPts val="200"/>
              </a:spcBef>
              <a:spcAft>
                <a:spcPts val="0"/>
              </a:spcAft>
            </a:pPr>
            <a:r>
              <a:rPr sz="1300" b="1">
                <a:solidFill>
                  <a:srgbClr val="FFFFFF"/>
                </a:solidFill>
                <a:latin typeface="Segoe UI"/>
              </a:rPr>
              <a:t>Grading Time</a:t>
            </a:r>
          </a:p>
          <a:p>
            <a:pPr algn="l">
              <a:spcBef>
                <a:spcPts val="400"/>
              </a:spcBef>
              <a:spcAft>
                <a:spcPts val="0"/>
              </a:spcAft>
            </a:pPr>
            <a:r>
              <a:rPr sz="1100" b="0">
                <a:solidFill>
                  <a:srgbClr val="94A3B8"/>
                </a:solidFill>
                <a:latin typeface="Segoe UI"/>
              </a:rPr>
              <a:t>Pre-highlighted rubric
evidence</a:t>
            </a:r>
          </a:p>
        </p:txBody>
      </p:sp>
      <p:sp>
        <p:nvSpPr>
          <p:cNvPr id="10" name="Rounded Rectangle 9"/>
          <p:cNvSpPr/>
          <p:nvPr/>
        </p:nvSpPr>
        <p:spPr>
          <a:xfrm>
            <a:off x="640080" y="3154680"/>
            <a:ext cx="3447288" cy="14173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64408"/>
            <a:ext cx="2990088" cy="1197864"/>
          </a:xfrm>
          <a:prstGeom prst="rect">
            <a:avLst/>
          </a:prstGeom>
          <a:noFill/>
        </p:spPr>
        <p:txBody>
          <a:bodyPr wrap="square">
            <a:spAutoFit/>
          </a:bodyPr>
          <a:lstStyle/>
          <a:p>
            <a:pPr algn="l"/>
            <a:r>
              <a:rPr sz="2400" b="1">
                <a:solidFill>
                  <a:srgbClr val="8B5CF6"/>
                </a:solidFill>
                <a:latin typeface="Segoe UI"/>
              </a:rPr>
              <a:t>Pre-Publication</a:t>
            </a:r>
          </a:p>
          <a:p>
            <a:pPr algn="l">
              <a:spcBef>
                <a:spcPts val="200"/>
              </a:spcBef>
              <a:spcAft>
                <a:spcPts val="0"/>
              </a:spcAft>
            </a:pPr>
            <a:r>
              <a:rPr sz="1300" b="1">
                <a:solidFill>
                  <a:srgbClr val="FFFFFF"/>
                </a:solidFill>
                <a:latin typeface="Segoe UI"/>
              </a:rPr>
              <a:t>Error Detection</a:t>
            </a:r>
          </a:p>
          <a:p>
            <a:pPr algn="l">
              <a:spcBef>
                <a:spcPts val="400"/>
              </a:spcBef>
              <a:spcAft>
                <a:spcPts val="0"/>
              </a:spcAft>
            </a:pPr>
            <a:r>
              <a:rPr sz="1100" b="0">
                <a:solidFill>
                  <a:srgbClr val="94A3B8"/>
                </a:solidFill>
                <a:latin typeface="Segoe UI"/>
              </a:rPr>
              <a:t>Caught before results,
not after</a:t>
            </a:r>
          </a:p>
        </p:txBody>
      </p:sp>
      <p:sp>
        <p:nvSpPr>
          <p:cNvPr id="12" name="Rounded Rectangle 11"/>
          <p:cNvSpPr/>
          <p:nvPr/>
        </p:nvSpPr>
        <p:spPr>
          <a:xfrm>
            <a:off x="4361688" y="3154680"/>
            <a:ext cx="3447288" cy="14173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3264408"/>
            <a:ext cx="2990088" cy="1197864"/>
          </a:xfrm>
          <a:prstGeom prst="rect">
            <a:avLst/>
          </a:prstGeom>
          <a:noFill/>
        </p:spPr>
        <p:txBody>
          <a:bodyPr wrap="square">
            <a:spAutoFit/>
          </a:bodyPr>
          <a:lstStyle/>
          <a:p>
            <a:pPr algn="l"/>
            <a:r>
              <a:rPr sz="2400" b="1">
                <a:solidFill>
                  <a:srgbClr val="06B6D4"/>
                </a:solidFill>
                <a:latin typeface="Segoe UI"/>
              </a:rPr>
              <a:t>Every Script</a:t>
            </a:r>
          </a:p>
          <a:p>
            <a:pPr algn="l">
              <a:spcBef>
                <a:spcPts val="200"/>
              </a:spcBef>
              <a:spcAft>
                <a:spcPts val="0"/>
              </a:spcAft>
            </a:pPr>
            <a:r>
              <a:rPr sz="1300" b="1">
                <a:solidFill>
                  <a:srgbClr val="FFFFFF"/>
                </a:solidFill>
                <a:latin typeface="Segoe UI"/>
              </a:rPr>
              <a:t>Identity Verified</a:t>
            </a:r>
          </a:p>
          <a:p>
            <a:pPr algn="l">
              <a:spcBef>
                <a:spcPts val="400"/>
              </a:spcBef>
              <a:spcAft>
                <a:spcPts val="0"/>
              </a:spcAft>
            </a:pPr>
            <a:r>
              <a:rPr sz="1100" b="0">
                <a:solidFill>
                  <a:srgbClr val="94A3B8"/>
                </a:solidFill>
                <a:latin typeface="Segoe UI"/>
              </a:rPr>
              <a:t>Roll number checked
against register</a:t>
            </a:r>
          </a:p>
        </p:txBody>
      </p:sp>
      <p:sp>
        <p:nvSpPr>
          <p:cNvPr id="14" name="Rounded Rectangle 13"/>
          <p:cNvSpPr/>
          <p:nvPr/>
        </p:nvSpPr>
        <p:spPr>
          <a:xfrm>
            <a:off x="8083296" y="3154680"/>
            <a:ext cx="3447288" cy="14173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3264408"/>
            <a:ext cx="2990088" cy="1197864"/>
          </a:xfrm>
          <a:prstGeom prst="rect">
            <a:avLst/>
          </a:prstGeom>
          <a:noFill/>
        </p:spPr>
        <p:txBody>
          <a:bodyPr wrap="square">
            <a:spAutoFit/>
          </a:bodyPr>
          <a:lstStyle/>
          <a:p>
            <a:pPr algn="l"/>
            <a:r>
              <a:rPr sz="2400" b="1">
                <a:solidFill>
                  <a:srgbClr val="14B8A6"/>
                </a:solidFill>
                <a:latin typeface="Segoe UI"/>
              </a:rPr>
              <a:t>Timestamped</a:t>
            </a:r>
          </a:p>
          <a:p>
            <a:pPr algn="l">
              <a:spcBef>
                <a:spcPts val="200"/>
              </a:spcBef>
              <a:spcAft>
                <a:spcPts val="0"/>
              </a:spcAft>
            </a:pPr>
            <a:r>
              <a:rPr sz="1300" b="1">
                <a:solidFill>
                  <a:srgbClr val="FFFFFF"/>
                </a:solidFill>
                <a:latin typeface="Segoe UI"/>
              </a:rPr>
              <a:t>Dispute Prevention</a:t>
            </a:r>
          </a:p>
          <a:p>
            <a:pPr algn="l">
              <a:spcBef>
                <a:spcPts val="400"/>
              </a:spcBef>
              <a:spcAft>
                <a:spcPts val="0"/>
              </a:spcAft>
            </a:pPr>
            <a:r>
              <a:rPr sz="1100" b="0">
                <a:solidFill>
                  <a:srgbClr val="94A3B8"/>
                </a:solidFill>
                <a:latin typeface="Segoe UI"/>
              </a:rPr>
              <a:t>Page-count records
settle disputes</a:t>
            </a:r>
          </a:p>
        </p:txBody>
      </p:sp>
      <p:sp>
        <p:nvSpPr>
          <p:cNvPr id="16" name="Rounded Rectangle 15"/>
          <p:cNvSpPr/>
          <p:nvPr/>
        </p:nvSpPr>
        <p:spPr>
          <a:xfrm>
            <a:off x="640080" y="4892040"/>
            <a:ext cx="10911535" cy="1965960"/>
          </a:xfrm>
          <a:prstGeom prst="roundRect">
            <a:avLst/>
          </a:prstGeom>
          <a:solidFill>
            <a:srgbClr val="16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01768"/>
            <a:ext cx="5486400" cy="274320"/>
          </a:xfrm>
          <a:prstGeom prst="rect">
            <a:avLst/>
          </a:prstGeom>
          <a:noFill/>
        </p:spPr>
        <p:txBody>
          <a:bodyPr wrap="square">
            <a:spAutoFit/>
          </a:bodyPr>
          <a:lstStyle/>
          <a:p>
            <a:pPr algn="l"/>
            <a:r>
              <a:rPr sz="1300" b="1">
                <a:solidFill>
                  <a:srgbClr val="10B981"/>
                </a:solidFill>
                <a:latin typeface="Segoe UI"/>
              </a:rPr>
              <a:t>TRACK 03 COMPLIANCE — COMPUTER VISION</a:t>
            </a:r>
          </a:p>
        </p:txBody>
      </p:sp>
      <p:sp>
        <p:nvSpPr>
          <p:cNvPr id="18" name="TextBox 17"/>
          <p:cNvSpPr txBox="1"/>
          <p:nvPr/>
        </p:nvSpPr>
        <p:spPr>
          <a:xfrm>
            <a:off x="914400" y="5349240"/>
            <a:ext cx="5303520" cy="1371600"/>
          </a:xfrm>
          <a:prstGeom prst="rect">
            <a:avLst/>
          </a:prstGeom>
          <a:noFill/>
        </p:spPr>
        <p:txBody>
          <a:bodyPr wrap="square">
            <a:spAutoFit/>
          </a:bodyPr>
          <a:lstStyle/>
          <a:p>
            <a:pPr algn="l"/>
            <a:r>
              <a:rPr sz="1200" b="0">
                <a:solidFill>
                  <a:srgbClr val="E2E8F0"/>
                </a:solidFill>
                <a:latin typeface="Segoe UI"/>
              </a:rPr>
              <a:t>✅  Image/PDF input stream — batch scanned answer sheets</a:t>
            </a:r>
          </a:p>
          <a:p>
            <a:pPr algn="l">
              <a:spcBef>
                <a:spcPts val="500"/>
              </a:spcBef>
              <a:spcAft>
                <a:spcPts val="0"/>
              </a:spcAft>
            </a:pPr>
            <a:r>
              <a:rPr sz="1200" b="0">
                <a:solidFill>
                  <a:srgbClr val="E2E8F0"/>
                </a:solidFill>
                <a:latin typeface="Segoe UI"/>
              </a:rPr>
              <a:t>✅  CNN pipeline — PaddleOCR detection + recognition networks</a:t>
            </a:r>
          </a:p>
          <a:p>
            <a:pPr algn="l">
              <a:spcBef>
                <a:spcPts val="500"/>
              </a:spcBef>
              <a:spcAft>
                <a:spcPts val="0"/>
              </a:spcAft>
            </a:pPr>
            <a:r>
              <a:rPr sz="1200" b="0">
                <a:solidFill>
                  <a:srgbClr val="E2E8F0"/>
                </a:solidFill>
                <a:latin typeface="Segoe UI"/>
              </a:rPr>
              <a:t>✅  Automated OCR understanding — dual-tier digit + prose</a:t>
            </a:r>
          </a:p>
        </p:txBody>
      </p:sp>
      <p:sp>
        <p:nvSpPr>
          <p:cNvPr id="19" name="TextBox 18"/>
          <p:cNvSpPr txBox="1"/>
          <p:nvPr/>
        </p:nvSpPr>
        <p:spPr>
          <a:xfrm>
            <a:off x="6400800" y="5349240"/>
            <a:ext cx="5029200" cy="1371600"/>
          </a:xfrm>
          <a:prstGeom prst="rect">
            <a:avLst/>
          </a:prstGeom>
          <a:noFill/>
        </p:spPr>
        <p:txBody>
          <a:bodyPr wrap="square">
            <a:spAutoFit/>
          </a:bodyPr>
          <a:lstStyle/>
          <a:p>
            <a:pPr algn="l"/>
            <a:r>
              <a:rPr sz="1200" b="0">
                <a:solidFill>
                  <a:srgbClr val="E2E8F0"/>
                </a:solidFill>
                <a:latin typeface="Segoe UI"/>
              </a:rPr>
              <a:t>✅  Measurable output — bounding boxes, confidence scores, rankings</a:t>
            </a:r>
          </a:p>
          <a:p>
            <a:pPr algn="l">
              <a:spcBef>
                <a:spcPts val="500"/>
              </a:spcBef>
              <a:spcAft>
                <a:spcPts val="0"/>
              </a:spcAft>
            </a:pPr>
            <a:r>
              <a:rPr sz="1200" b="0">
                <a:solidFill>
                  <a:srgbClr val="E2E8F0"/>
                </a:solidFill>
                <a:latin typeface="Segoe UI"/>
              </a:rPr>
              <a:t>✅  No image-to-GPT — banned behavior fully avoided</a:t>
            </a:r>
          </a:p>
        </p:txBody>
      </p:sp>
      <p:sp>
        <p:nvSpPr>
          <p:cNvPr id="20" name="TextBox 19"/>
          <p:cNvSpPr txBox="1"/>
          <p:nvPr/>
        </p:nvSpPr>
        <p:spPr>
          <a:xfrm>
            <a:off x="914400" y="6217920"/>
            <a:ext cx="10362895" cy="457200"/>
          </a:xfrm>
          <a:prstGeom prst="rect">
            <a:avLst/>
          </a:prstGeom>
          <a:noFill/>
        </p:spPr>
        <p:txBody>
          <a:bodyPr wrap="square">
            <a:spAutoFit/>
          </a:bodyPr>
          <a:lstStyle/>
          <a:p>
            <a:pPr algn="ctr"/>
            <a:r>
              <a:rPr sz="1000" b="0">
                <a:solidFill>
                  <a:srgbClr val="94A3B8"/>
                </a:solidFill>
                <a:latin typeface="Segoe UI"/>
              </a:rPr>
              <a:t>Rubric:  Tech Execution 25%  ·  Productivity Impact 20%  ·  Innovation 20%  ·  Scalability 15%  ·  UX &amp; Presentation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1005840"/>
          </a:xfrm>
          <a:prstGeom prst="rect">
            <a:avLst/>
          </a:prstGeom>
          <a:noFill/>
        </p:spPr>
        <p:txBody>
          <a:bodyPr wrap="square">
            <a:spAutoFit/>
          </a:bodyPr>
          <a:lstStyle/>
          <a:p>
            <a:pPr algn="l"/>
            <a:r>
              <a:rPr sz="1400" b="1">
                <a:solidFill>
                  <a:srgbClr val="F59E0B"/>
                </a:solidFill>
                <a:latin typeface="Segoe UI"/>
              </a:rPr>
              <a:t>LIVE DEMO &amp; HONEST SCOPE</a:t>
            </a:r>
          </a:p>
          <a:p>
            <a:pPr algn="l">
              <a:spcBef>
                <a:spcPts val="400"/>
              </a:spcBef>
              <a:spcAft>
                <a:spcPts val="0"/>
              </a:spcAft>
            </a:pPr>
            <a:r>
              <a:rPr sz="3200" b="1">
                <a:solidFill>
                  <a:srgbClr val="FFFFFF"/>
                </a:solidFill>
                <a:latin typeface="Segoe UI"/>
              </a:rPr>
              <a:t>The Judges ARE the Demo</a:t>
            </a:r>
          </a:p>
        </p:txBody>
      </p:sp>
      <p:sp>
        <p:nvSpPr>
          <p:cNvPr id="4" name="Rounded Rectangle 3"/>
          <p:cNvSpPr/>
          <p:nvPr/>
        </p:nvSpPr>
        <p:spPr>
          <a:xfrm>
            <a:off x="640080" y="1600200"/>
            <a:ext cx="530352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754880" cy="274320"/>
          </a:xfrm>
          <a:prstGeom prst="rect">
            <a:avLst/>
          </a:prstGeom>
          <a:noFill/>
        </p:spPr>
        <p:txBody>
          <a:bodyPr wrap="square">
            <a:spAutoFit/>
          </a:bodyPr>
          <a:lstStyle/>
          <a:p>
            <a:pPr algn="l"/>
            <a:r>
              <a:rPr sz="1300" b="1">
                <a:solidFill>
                  <a:srgbClr val="F59E0B"/>
                </a:solidFill>
                <a:latin typeface="Segoe UI"/>
              </a:rPr>
              <a:t>DEMO FLOW</a:t>
            </a:r>
          </a:p>
        </p:txBody>
      </p:sp>
      <p:sp>
        <p:nvSpPr>
          <p:cNvPr id="6" name="Rounded Rectangle 5"/>
          <p:cNvSpPr/>
          <p:nvPr/>
        </p:nvSpPr>
        <p:spPr>
          <a:xfrm>
            <a:off x="914400" y="2103120"/>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21408"/>
            <a:ext cx="320040" cy="274320"/>
          </a:xfrm>
          <a:prstGeom prst="rect">
            <a:avLst/>
          </a:prstGeom>
          <a:noFill/>
        </p:spPr>
        <p:txBody>
          <a:bodyPr wrap="square">
            <a:spAutoFit/>
          </a:bodyPr>
          <a:lstStyle/>
          <a:p>
            <a:pPr algn="ctr"/>
            <a:r>
              <a:rPr sz="1300" b="1">
                <a:solidFill>
                  <a:srgbClr val="0F172A"/>
                </a:solidFill>
                <a:latin typeface="Segoe UI"/>
              </a:rPr>
              <a:t>1</a:t>
            </a:r>
          </a:p>
        </p:txBody>
      </p:sp>
      <p:sp>
        <p:nvSpPr>
          <p:cNvPr id="8" name="TextBox 7"/>
          <p:cNvSpPr txBox="1"/>
          <p:nvPr/>
        </p:nvSpPr>
        <p:spPr>
          <a:xfrm>
            <a:off x="1371600" y="2103120"/>
            <a:ext cx="4206240" cy="548640"/>
          </a:xfrm>
          <a:prstGeom prst="rect">
            <a:avLst/>
          </a:prstGeom>
          <a:noFill/>
        </p:spPr>
        <p:txBody>
          <a:bodyPr wrap="square">
            <a:spAutoFit/>
          </a:bodyPr>
          <a:lstStyle/>
          <a:p>
            <a:pPr algn="l"/>
            <a:r>
              <a:rPr sz="1200" b="0">
                <a:solidFill>
                  <a:srgbClr val="E2E8F0"/>
                </a:solidFill>
                <a:latin typeface="Segoe UI"/>
              </a:rPr>
              <a:t>Four judges handwrite a short answer — two secretly copy each other</a:t>
            </a:r>
          </a:p>
        </p:txBody>
      </p:sp>
      <p:sp>
        <p:nvSpPr>
          <p:cNvPr id="9" name="Rounded Rectangle 8"/>
          <p:cNvSpPr/>
          <p:nvPr/>
        </p:nvSpPr>
        <p:spPr>
          <a:xfrm>
            <a:off x="914400" y="2761488"/>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79776"/>
            <a:ext cx="320040" cy="274320"/>
          </a:xfrm>
          <a:prstGeom prst="rect">
            <a:avLst/>
          </a:prstGeom>
          <a:noFill/>
        </p:spPr>
        <p:txBody>
          <a:bodyPr wrap="square">
            <a:spAutoFit/>
          </a:bodyPr>
          <a:lstStyle/>
          <a:p>
            <a:pPr algn="ctr"/>
            <a:r>
              <a:rPr sz="1300" b="1">
                <a:solidFill>
                  <a:srgbClr val="0F172A"/>
                </a:solidFill>
                <a:latin typeface="Segoe UI"/>
              </a:rPr>
              <a:t>2</a:t>
            </a:r>
          </a:p>
        </p:txBody>
      </p:sp>
      <p:sp>
        <p:nvSpPr>
          <p:cNvPr id="11" name="TextBox 10"/>
          <p:cNvSpPr txBox="1"/>
          <p:nvPr/>
        </p:nvSpPr>
        <p:spPr>
          <a:xfrm>
            <a:off x="1371600" y="2761488"/>
            <a:ext cx="4206240" cy="548640"/>
          </a:xfrm>
          <a:prstGeom prst="rect">
            <a:avLst/>
          </a:prstGeom>
          <a:noFill/>
        </p:spPr>
        <p:txBody>
          <a:bodyPr wrap="square">
            <a:spAutoFit/>
          </a:bodyPr>
          <a:lstStyle/>
          <a:p>
            <a:pPr algn="l"/>
            <a:r>
              <a:rPr sz="1200" b="0">
                <a:solidFill>
                  <a:srgbClr val="E2E8F0"/>
                </a:solidFill>
                <a:latin typeface="Segoe UI"/>
              </a:rPr>
              <a:t>Scripts scanned live → CopyCatch graph lights up exactly the colluding pair</a:t>
            </a:r>
          </a:p>
        </p:txBody>
      </p:sp>
      <p:sp>
        <p:nvSpPr>
          <p:cNvPr id="12" name="Rounded Rectangle 11"/>
          <p:cNvSpPr/>
          <p:nvPr/>
        </p:nvSpPr>
        <p:spPr>
          <a:xfrm>
            <a:off x="914400" y="3419856"/>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38144"/>
            <a:ext cx="320040" cy="274320"/>
          </a:xfrm>
          <a:prstGeom prst="rect">
            <a:avLst/>
          </a:prstGeom>
          <a:noFill/>
        </p:spPr>
        <p:txBody>
          <a:bodyPr wrap="square">
            <a:spAutoFit/>
          </a:bodyPr>
          <a:lstStyle/>
          <a:p>
            <a:pPr algn="ctr"/>
            <a:r>
              <a:rPr sz="1300" b="1">
                <a:solidFill>
                  <a:srgbClr val="0F172A"/>
                </a:solidFill>
                <a:latin typeface="Segoe UI"/>
              </a:rPr>
              <a:t>3</a:t>
            </a:r>
          </a:p>
        </p:txBody>
      </p:sp>
      <p:sp>
        <p:nvSpPr>
          <p:cNvPr id="14" name="TextBox 13"/>
          <p:cNvSpPr txBox="1"/>
          <p:nvPr/>
        </p:nvSpPr>
        <p:spPr>
          <a:xfrm>
            <a:off x="1371600" y="3419856"/>
            <a:ext cx="4206240" cy="548640"/>
          </a:xfrm>
          <a:prstGeom prst="rect">
            <a:avLst/>
          </a:prstGeom>
          <a:noFill/>
        </p:spPr>
        <p:txBody>
          <a:bodyPr wrap="square">
            <a:spAutoFit/>
          </a:bodyPr>
          <a:lstStyle/>
          <a:p>
            <a:pPr algn="l"/>
            <a:r>
              <a:rPr sz="1200" b="0">
                <a:solidFill>
                  <a:srgbClr val="E2E8F0"/>
                </a:solidFill>
                <a:latin typeface="Segoe UI"/>
              </a:rPr>
              <a:t>Side-by-side handwriting evidence shown for human confirmation</a:t>
            </a:r>
          </a:p>
        </p:txBody>
      </p:sp>
      <p:sp>
        <p:nvSpPr>
          <p:cNvPr id="15" name="Rounded Rectangle 14"/>
          <p:cNvSpPr/>
          <p:nvPr/>
        </p:nvSpPr>
        <p:spPr>
          <a:xfrm>
            <a:off x="914400" y="4078224"/>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96512"/>
            <a:ext cx="320040" cy="274320"/>
          </a:xfrm>
          <a:prstGeom prst="rect">
            <a:avLst/>
          </a:prstGeom>
          <a:noFill/>
        </p:spPr>
        <p:txBody>
          <a:bodyPr wrap="square">
            <a:spAutoFit/>
          </a:bodyPr>
          <a:lstStyle/>
          <a:p>
            <a:pPr algn="ctr"/>
            <a:r>
              <a:rPr sz="1300" b="1">
                <a:solidFill>
                  <a:srgbClr val="0F172A"/>
                </a:solidFill>
                <a:latin typeface="Segoe UI"/>
              </a:rPr>
              <a:t>4</a:t>
            </a:r>
          </a:p>
        </p:txBody>
      </p:sp>
      <p:sp>
        <p:nvSpPr>
          <p:cNvPr id="17" name="TextBox 16"/>
          <p:cNvSpPr txBox="1"/>
          <p:nvPr/>
        </p:nvSpPr>
        <p:spPr>
          <a:xfrm>
            <a:off x="1371600" y="4078224"/>
            <a:ext cx="4206240" cy="548640"/>
          </a:xfrm>
          <a:prstGeom prst="rect">
            <a:avLst/>
          </a:prstGeom>
          <a:noFill/>
        </p:spPr>
        <p:txBody>
          <a:bodyPr wrap="square">
            <a:spAutoFit/>
          </a:bodyPr>
          <a:lstStyle/>
          <a:p>
            <a:pPr algn="l"/>
            <a:r>
              <a:rPr sz="1200" b="0">
                <a:solidFill>
                  <a:srgbClr val="E2E8F0"/>
                </a:solidFill>
                <a:latin typeface="Segoe UI"/>
              </a:rPr>
              <a:t>On 35-script corpus: MarkSafe surfaces planted totaling errors</a:t>
            </a:r>
          </a:p>
        </p:txBody>
      </p:sp>
      <p:sp>
        <p:nvSpPr>
          <p:cNvPr id="18" name="Rounded Rectangle 17"/>
          <p:cNvSpPr/>
          <p:nvPr/>
        </p:nvSpPr>
        <p:spPr>
          <a:xfrm>
            <a:off x="914400" y="4736592"/>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4880"/>
            <a:ext cx="320040" cy="274320"/>
          </a:xfrm>
          <a:prstGeom prst="rect">
            <a:avLst/>
          </a:prstGeom>
          <a:noFill/>
        </p:spPr>
        <p:txBody>
          <a:bodyPr wrap="square">
            <a:spAutoFit/>
          </a:bodyPr>
          <a:lstStyle/>
          <a:p>
            <a:pPr algn="ctr"/>
            <a:r>
              <a:rPr sz="1300" b="1">
                <a:solidFill>
                  <a:srgbClr val="0F172A"/>
                </a:solidFill>
                <a:latin typeface="Segoe UI"/>
              </a:rPr>
              <a:t>5</a:t>
            </a:r>
          </a:p>
        </p:txBody>
      </p:sp>
      <p:sp>
        <p:nvSpPr>
          <p:cNvPr id="20" name="TextBox 19"/>
          <p:cNvSpPr txBox="1"/>
          <p:nvPr/>
        </p:nvSpPr>
        <p:spPr>
          <a:xfrm>
            <a:off x="1371600" y="4736592"/>
            <a:ext cx="4206240" cy="548640"/>
          </a:xfrm>
          <a:prstGeom prst="rect">
            <a:avLst/>
          </a:prstGeom>
          <a:noFill/>
        </p:spPr>
        <p:txBody>
          <a:bodyPr wrap="square">
            <a:spAutoFit/>
          </a:bodyPr>
          <a:lstStyle/>
          <a:p>
            <a:pPr algn="l"/>
            <a:r>
              <a:rPr sz="1200" b="0">
                <a:solidFill>
                  <a:srgbClr val="E2E8F0"/>
                </a:solidFill>
                <a:latin typeface="Segoe UI"/>
              </a:rPr>
              <a:t>Rapid-fire: ReEval Guard borderline queue + ScriptID register mismatches</a:t>
            </a:r>
          </a:p>
        </p:txBody>
      </p:sp>
      <p:sp>
        <p:nvSpPr>
          <p:cNvPr id="21" name="Rounded Rectangle 20"/>
          <p:cNvSpPr/>
          <p:nvPr/>
        </p:nvSpPr>
        <p:spPr>
          <a:xfrm>
            <a:off x="914400" y="5394960"/>
            <a:ext cx="3200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413248"/>
            <a:ext cx="320040" cy="274320"/>
          </a:xfrm>
          <a:prstGeom prst="rect">
            <a:avLst/>
          </a:prstGeom>
          <a:noFill/>
        </p:spPr>
        <p:txBody>
          <a:bodyPr wrap="square">
            <a:spAutoFit/>
          </a:bodyPr>
          <a:lstStyle/>
          <a:p>
            <a:pPr algn="ctr"/>
            <a:r>
              <a:rPr sz="1300" b="1">
                <a:solidFill>
                  <a:srgbClr val="0F172A"/>
                </a:solidFill>
                <a:latin typeface="Segoe UI"/>
              </a:rPr>
              <a:t>6</a:t>
            </a:r>
          </a:p>
        </p:txBody>
      </p:sp>
      <p:sp>
        <p:nvSpPr>
          <p:cNvPr id="23" name="TextBox 22"/>
          <p:cNvSpPr txBox="1"/>
          <p:nvPr/>
        </p:nvSpPr>
        <p:spPr>
          <a:xfrm>
            <a:off x="1371600" y="5394960"/>
            <a:ext cx="4206240" cy="548640"/>
          </a:xfrm>
          <a:prstGeom prst="rect">
            <a:avLst/>
          </a:prstGeom>
          <a:noFill/>
        </p:spPr>
        <p:txBody>
          <a:bodyPr wrap="square">
            <a:spAutoFit/>
          </a:bodyPr>
          <a:lstStyle/>
          <a:p>
            <a:pPr algn="l"/>
            <a:r>
              <a:rPr sz="1200" b="0">
                <a:solidFill>
                  <a:srgbClr val="E2E8F0"/>
                </a:solidFill>
                <a:latin typeface="Segoe UI"/>
              </a:rPr>
              <a:t>Honesty beat: strikeout flagged "AMBIGUOUS — human review" — a wrong guess is impossible</a:t>
            </a:r>
          </a:p>
        </p:txBody>
      </p:sp>
      <p:sp>
        <p:nvSpPr>
          <p:cNvPr id="24" name="Rounded Rectangle 23"/>
          <p:cNvSpPr/>
          <p:nvPr/>
        </p:nvSpPr>
        <p:spPr>
          <a:xfrm>
            <a:off x="6217920" y="1600200"/>
            <a:ext cx="5333695"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1737360"/>
            <a:ext cx="4785055" cy="274320"/>
          </a:xfrm>
          <a:prstGeom prst="rect">
            <a:avLst/>
          </a:prstGeom>
          <a:noFill/>
        </p:spPr>
        <p:txBody>
          <a:bodyPr wrap="square">
            <a:spAutoFit/>
          </a:bodyPr>
          <a:lstStyle/>
          <a:p>
            <a:pPr algn="l"/>
            <a:r>
              <a:rPr sz="1300" b="1">
                <a:solidFill>
                  <a:srgbClr val="EF4444"/>
                </a:solidFill>
                <a:latin typeface="Segoe UI"/>
              </a:rPr>
              <a:t>WHAT WE DON’T CLAIM</a:t>
            </a:r>
          </a:p>
        </p:txBody>
      </p:sp>
      <p:sp>
        <p:nvSpPr>
          <p:cNvPr id="26" name="TextBox 25"/>
          <p:cNvSpPr txBox="1"/>
          <p:nvPr/>
        </p:nvSpPr>
        <p:spPr>
          <a:xfrm>
            <a:off x="6492240" y="2103120"/>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No Auto-Grading</a:t>
            </a:r>
          </a:p>
          <a:p>
            <a:pPr algn="l">
              <a:spcBef>
                <a:spcPts val="200"/>
              </a:spcBef>
              <a:spcAft>
                <a:spcPts val="0"/>
              </a:spcAft>
            </a:pPr>
            <a:r>
              <a:rPr sz="1000" b="0">
                <a:solidFill>
                  <a:srgbClr val="94A3B8"/>
                </a:solidFill>
                <a:latin typeface="Segoe UI"/>
              </a:rPr>
              <a:t>RubricLens highlights evidence, never assigns marks</a:t>
            </a:r>
          </a:p>
        </p:txBody>
      </p:sp>
      <p:sp>
        <p:nvSpPr>
          <p:cNvPr id="27" name="TextBox 26"/>
          <p:cNvSpPr txBox="1"/>
          <p:nvPr/>
        </p:nvSpPr>
        <p:spPr>
          <a:xfrm>
            <a:off x="6492240" y="2761488"/>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No Accusations</a:t>
            </a:r>
          </a:p>
          <a:p>
            <a:pPr algn="l">
              <a:spcBef>
                <a:spcPts val="200"/>
              </a:spcBef>
              <a:spcAft>
                <a:spcPts val="0"/>
              </a:spcAft>
            </a:pPr>
            <a:r>
              <a:rPr sz="1000" b="0">
                <a:solidFill>
                  <a:srgbClr val="94A3B8"/>
                </a:solidFill>
                <a:latin typeface="Segoe UI"/>
              </a:rPr>
              <a:t>CopyCatch says “abnormal similarity,” never “cheater”</a:t>
            </a:r>
          </a:p>
        </p:txBody>
      </p:sp>
      <p:sp>
        <p:nvSpPr>
          <p:cNvPr id="28" name="TextBox 27"/>
          <p:cNvSpPr txBox="1"/>
          <p:nvPr/>
        </p:nvSpPr>
        <p:spPr>
          <a:xfrm>
            <a:off x="6492240" y="3419856"/>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No Guessing</a:t>
            </a:r>
          </a:p>
          <a:p>
            <a:pPr algn="l">
              <a:spcBef>
                <a:spcPts val="200"/>
              </a:spcBef>
              <a:spcAft>
                <a:spcPts val="0"/>
              </a:spcAft>
            </a:pPr>
            <a:r>
              <a:rPr sz="1000" b="0">
                <a:solidFill>
                  <a:srgbClr val="94A3B8"/>
                </a:solidFill>
                <a:latin typeface="Segoe UI"/>
              </a:rPr>
              <a:t>Ambiguity = flagged for human review, never a wrong verdict</a:t>
            </a:r>
          </a:p>
        </p:txBody>
      </p:sp>
      <p:sp>
        <p:nvSpPr>
          <p:cNvPr id="29" name="TextBox 28"/>
          <p:cNvSpPr txBox="1"/>
          <p:nvPr/>
        </p:nvSpPr>
        <p:spPr>
          <a:xfrm>
            <a:off x="6492240" y="4078224"/>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No Fine-Tuning</a:t>
            </a:r>
          </a:p>
          <a:p>
            <a:pPr algn="l">
              <a:spcBef>
                <a:spcPts val="200"/>
              </a:spcBef>
              <a:spcAft>
                <a:spcPts val="0"/>
              </a:spcAft>
            </a:pPr>
            <a:r>
              <a:rPr sz="1000" b="0">
                <a:solidFill>
                  <a:srgbClr val="94A3B8"/>
                </a:solidFill>
                <a:latin typeface="Segoe UI"/>
              </a:rPr>
              <a:t>Nothing fitted on 30 samples, nothing overfits</a:t>
            </a:r>
          </a:p>
        </p:txBody>
      </p:sp>
      <p:sp>
        <p:nvSpPr>
          <p:cNvPr id="30" name="TextBox 29"/>
          <p:cNvSpPr txBox="1"/>
          <p:nvPr/>
        </p:nvSpPr>
        <p:spPr>
          <a:xfrm>
            <a:off x="6492240" y="4736592"/>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VivaFair Cut</a:t>
            </a:r>
          </a:p>
          <a:p>
            <a:pPr algn="l">
              <a:spcBef>
                <a:spcPts val="200"/>
              </a:spcBef>
              <a:spcAft>
                <a:spcPts val="0"/>
              </a:spcAft>
            </a:pPr>
            <a:r>
              <a:rPr sz="1000" b="0">
                <a:solidFill>
                  <a:srgbClr val="94A3B8"/>
                </a:solidFill>
                <a:latin typeface="Segoe UI"/>
              </a:rPr>
              <a:t>Viva-fairness audio descoped — stays on roadmap only</a:t>
            </a:r>
          </a:p>
        </p:txBody>
      </p:sp>
      <p:sp>
        <p:nvSpPr>
          <p:cNvPr id="31" name="TextBox 30"/>
          <p:cNvSpPr txBox="1"/>
          <p:nvPr/>
        </p:nvSpPr>
        <p:spPr>
          <a:xfrm>
            <a:off x="6492240" y="5394960"/>
            <a:ext cx="4785055" cy="594360"/>
          </a:xfrm>
          <a:prstGeom prst="rect">
            <a:avLst/>
          </a:prstGeom>
          <a:noFill/>
        </p:spPr>
        <p:txBody>
          <a:bodyPr wrap="square">
            <a:spAutoFit/>
          </a:bodyPr>
          <a:lstStyle/>
          <a:p>
            <a:pPr algn="l"/>
            <a:r>
              <a:rPr sz="1400">
                <a:latin typeface="Segoe UI"/>
              </a:rPr>
              <a:t>✅  </a:t>
            </a:r>
            <a:r>
              <a:rPr sz="1400" b="1">
                <a:solidFill>
                  <a:srgbClr val="FFFFFF"/>
                </a:solidFill>
                <a:latin typeface="Segoe UI"/>
              </a:rPr>
              <a:t>Honest Corpus</a:t>
            </a:r>
          </a:p>
          <a:p>
            <a:pPr algn="l">
              <a:spcBef>
                <a:spcPts val="200"/>
              </a:spcBef>
              <a:spcAft>
                <a:spcPts val="0"/>
              </a:spcAft>
            </a:pPr>
            <a:r>
              <a:rPr sz="1000" b="0">
                <a:solidFill>
                  <a:srgbClr val="94A3B8"/>
                </a:solidFill>
                <a:latin typeface="Segoe UI"/>
              </a:rPr>
              <a:t>30–40 real scripts, 2 planted colluder pairs, disclosed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1280160"/>
            <a:ext cx="21332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362895" cy="914400"/>
          </a:xfrm>
          <a:prstGeom prst="rect">
            <a:avLst/>
          </a:prstGeom>
          <a:noFill/>
        </p:spPr>
        <p:txBody>
          <a:bodyPr wrap="square">
            <a:spAutoFit/>
          </a:bodyPr>
          <a:lstStyle/>
          <a:p>
            <a:pPr algn="ctr"/>
            <a:r>
              <a:rPr sz="4800" b="1">
                <a:solidFill>
                  <a:srgbClr val="FFFFFF"/>
                </a:solidFill>
                <a:latin typeface="Segoe UI"/>
              </a:rPr>
              <a:t>EXAMSHIELD</a:t>
            </a:r>
          </a:p>
        </p:txBody>
      </p:sp>
      <p:sp>
        <p:nvSpPr>
          <p:cNvPr id="6" name="TextBox 5"/>
          <p:cNvSpPr txBox="1"/>
          <p:nvPr/>
        </p:nvSpPr>
        <p:spPr>
          <a:xfrm>
            <a:off x="914400" y="2194560"/>
            <a:ext cx="10362895" cy="457200"/>
          </a:xfrm>
          <a:prstGeom prst="rect">
            <a:avLst/>
          </a:prstGeom>
          <a:noFill/>
        </p:spPr>
        <p:txBody>
          <a:bodyPr wrap="square">
            <a:spAutoFit/>
          </a:bodyPr>
          <a:lstStyle/>
          <a:p>
            <a:pPr algn="ctr"/>
            <a:r>
              <a:rPr sz="1600" b="0">
                <a:solidFill>
                  <a:srgbClr val="94A3B8"/>
                </a:solidFill>
                <a:latin typeface="Segoe UI"/>
              </a:rPr>
              <a:t>AI-Powered Handwritten Answer Sheet Verification Engine</a:t>
            </a:r>
          </a:p>
        </p:txBody>
      </p:sp>
      <p:sp>
        <p:nvSpPr>
          <p:cNvPr id="7" name="Rounded Rectangle 6"/>
          <p:cNvSpPr/>
          <p:nvPr/>
        </p:nvSpPr>
        <p:spPr>
          <a:xfrm>
            <a:off x="1371600" y="2926080"/>
            <a:ext cx="9448495" cy="20116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108960"/>
            <a:ext cx="8534095" cy="1645920"/>
          </a:xfrm>
          <a:prstGeom prst="rect">
            <a:avLst/>
          </a:prstGeom>
          <a:noFill/>
        </p:spPr>
        <p:txBody>
          <a:bodyPr wrap="square">
            <a:spAutoFit/>
          </a:bodyPr>
          <a:lstStyle/>
          <a:p>
            <a:pPr algn="ctr"/>
            <a:r>
              <a:rPr sz="1700" b="0">
                <a:solidFill>
                  <a:srgbClr val="E2E8F0"/>
                </a:solidFill>
                <a:latin typeface="Segoe UI"/>
              </a:rPr>
              <a:t>“120 answer sheets are waiting for you after judging this hackathon. ExamShield would have them integrity-checked, error-verified, and evidence-highlighted before dinner — and every flag it raises is reviewed by a human, never decided by a machine.”</a:t>
            </a:r>
          </a:p>
        </p:txBody>
      </p:sp>
      <p:sp>
        <p:nvSpPr>
          <p:cNvPr id="9" name="Rectangle 8"/>
          <p:cNvSpPr/>
          <p:nvPr/>
        </p:nvSpPr>
        <p:spPr>
          <a:xfrm>
            <a:off x="5029200" y="5212080"/>
            <a:ext cx="21332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394960"/>
            <a:ext cx="10362895" cy="457200"/>
          </a:xfrm>
          <a:prstGeom prst="rect">
            <a:avLst/>
          </a:prstGeom>
          <a:noFill/>
        </p:spPr>
        <p:txBody>
          <a:bodyPr wrap="square">
            <a:spAutoFit/>
          </a:bodyPr>
          <a:lstStyle/>
          <a:p>
            <a:pPr algn="ctr"/>
            <a:r>
              <a:rPr sz="2000" b="0">
                <a:solidFill>
                  <a:srgbClr val="FFFFFF"/>
                </a:solidFill>
                <a:latin typeface="Segoe UI"/>
              </a:rPr>
              <a:t>Gaurav   ·   Aishwarya   ·   Yashwanthi</a:t>
            </a:r>
          </a:p>
        </p:txBody>
      </p:sp>
      <p:sp>
        <p:nvSpPr>
          <p:cNvPr id="11" name="TextBox 10"/>
          <p:cNvSpPr txBox="1"/>
          <p:nvPr/>
        </p:nvSpPr>
        <p:spPr>
          <a:xfrm>
            <a:off x="914400" y="5852160"/>
            <a:ext cx="10362895" cy="365760"/>
          </a:xfrm>
          <a:prstGeom prst="rect">
            <a:avLst/>
          </a:prstGeom>
          <a:noFill/>
        </p:spPr>
        <p:txBody>
          <a:bodyPr wrap="square">
            <a:spAutoFit/>
          </a:bodyPr>
          <a:lstStyle/>
          <a:p>
            <a:pPr algn="ctr"/>
            <a:r>
              <a:rPr sz="1400" b="0">
                <a:solidFill>
                  <a:srgbClr val="3B82F6"/>
                </a:solidFill>
                <a:latin typeface="Segoe UI"/>
              </a:rPr>
              <a:t>github.com/aishwaryaV007/E-Shield</a:t>
            </a:r>
          </a:p>
        </p:txBody>
      </p:sp>
      <p:sp>
        <p:nvSpPr>
          <p:cNvPr id="12" name="TextBox 11"/>
          <p:cNvSpPr txBox="1"/>
          <p:nvPr/>
        </p:nvSpPr>
        <p:spPr>
          <a:xfrm>
            <a:off x="914400" y="6263640"/>
            <a:ext cx="10362895" cy="457200"/>
          </a:xfrm>
          <a:prstGeom prst="rect">
            <a:avLst/>
          </a:prstGeom>
          <a:noFill/>
        </p:spPr>
        <p:txBody>
          <a:bodyPr wrap="square">
            <a:spAutoFit/>
          </a:bodyPr>
          <a:lstStyle/>
          <a:p>
            <a:pPr algn="ctr"/>
            <a:r>
              <a:rPr sz="2200" b="0">
                <a:solidFill>
                  <a:srgbClr val="94A3B8"/>
                </a:solidFill>
                <a:latin typeface="Segoe U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